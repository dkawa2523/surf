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計算時間（相対）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MC 3D</c:v>
                </c:pt>
                <c:pt idx="1">
                  <c:v>サロゲート推論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C5-5247-BFF0-AC2FB87081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データ/運用コスト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voxel直学習</c:v>
                </c:pt>
                <c:pt idx="1">
                  <c:v>Vn閉包+LS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27-9E4A-BEEA-E3CF00058D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点数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全体(dense)</c:v>
                </c:pt>
                <c:pt idx="1">
                  <c:v>narrow band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5-1E4D-8640-34D32A691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学習サンプル密度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voxel直</c:v>
                </c:pt>
                <c:pt idx="1">
                  <c:v>Vn閉包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7B-014B-8298-43576762E5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0.75</c:v>
                </c:pt>
                <c:pt idx="2">
                  <c:v>0.6</c:v>
                </c:pt>
                <c:pt idx="3">
                  <c:v>0.5</c:v>
                </c:pt>
                <c:pt idx="4">
                  <c:v>0.45</c:v>
                </c:pt>
                <c:pt idx="5">
                  <c:v>0.42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34-2B41-8DCA-AB9D8EBDC7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1.05</c:v>
                </c:pt>
                <c:pt idx="1">
                  <c:v>0.82</c:v>
                </c:pt>
                <c:pt idx="2">
                  <c:v>0.65</c:v>
                </c:pt>
                <c:pt idx="3">
                  <c:v>0.56999999999999995</c:v>
                </c:pt>
                <c:pt idx="4">
                  <c:v>0.53</c:v>
                </c:pt>
                <c:pt idx="5">
                  <c:v>0.51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34-2B41-8DCA-AB9D8EBDC7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CD誤差(例)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CD@Top</c:v>
                </c:pt>
                <c:pt idx="1">
                  <c:v>CD@Mid</c:v>
                </c:pt>
                <c:pt idx="2">
                  <c:v>CD@Bot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1.2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4A-1149-931E-5F2565C01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2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・スライドは実装したサロゲートの中核（SDF narrow band → Vn学習 → レベルセット更新）に集中。
・同定（latent z）と蒸留（Teacher–Student）は「実測吸収」と「内部影響の取り込み」を担う。
[Sources]
- https://www.sciencedirect.com/science/article/pii/S2352711025004194 (ViennaPS: level-set/topography framework)
- https://nvidia.github.io/MinkowskiEngine/sparse_tensor_network.html (SparseTensor rationale)
- https://joss.theoj.org/papers/10.21105/joss.07754 (sbi reloaded: SBI toolkit)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・右図は定量値ではなく「相対イメージ」。MCの高コストが探索/同定を阻害している点を強調。
・voxel直学習は入出力が高次元になり、学習条件数が増えがち。Vn閉包+LSは局所教師が得られ運用が軽い。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・本実装の主張：NNが形状全体を直接生成するのではなく、界面速度を学び幾何更新に渡すことで安定性とデータ効率を得る。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・本実装はvoxelを直接学習せず、SDF（φ）を状態として扱い、φ=0界面の運動を学習対象（Vn）にする。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・narrow bandの厚みwは、数voxel〜数十voxel程度の設計変数。薄すぎると更新が不安定、厚すぎると点数が増える。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・voxelからSDFを作る際は符号規約（内側/外側）を全工程で統一。
・narrow bandの抽出は、学習/推論の点数（=計算量）を直接決める設計パラメータ。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・SDFの維持（再距離化）は、時間発展の安定性に直結。まずはDT+軽量再距離化で堅く運用する設計が現実的。
[Sources]
- https://math.mit.edu/classes/18.086/2006/am57.pdf (Fast marching / level set notes)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・Vn教師はSDFの時系列から差分で作れるため、追加のシミュレータ改造が少ない。
・右図の倍率は概念。実際はnarrow band点数×時刻数で増える。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・SparseTensorの設計思想（座標＋特徴で非ゼロのみ保持）がnarrow bandと整合。
[Sources]
- https://nvidia.github.io/MinkowskiEngine/sparse_tensor_network.html (SparseTensor rationale)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・図は概念。実装ではSparse U-Net系（エンコーダ/デコーダ＋skip）に、条件（c,z）をFiLMで注入する想定。
・出力はVn（法線速度）。必要に応じて機構別（etch/depo/…）に分解可能。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・狙い：入力変数をすべてネットに入れて学習データが爆増するのを避ける。
・未知要素はzに集約し、実測SEMでzだけを同定（モデル本体を固定）することで運用コストを抑える。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・LUPI/蒸留の思想：学習時のみ特権情報を使い、推論は通常入力で成立させる。
[Sources]
- https://jmlr.org/papers/volume16/vapnik15b/vapnik15b.pdf (LUPI / privileged information)
- https://arxiv.org/pdf/1503.02531 (Knowledge distillation)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・レベルセット更新を採用することで、NNの誤差があっても形状が極端に破綻しにくい設計を狙う。
・ViennaPS等の既存知見は、実装の高速化・安定化に参考になる。
[Sources]
- https://www.sciencedirect.com/science/article/pii/S2352711025004194 (ViennaPS: level-set/topography framework)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・本スライドは“出力インターフェース”のイメージ。VTI/PVDは外部可視化（ParaView等）に渡せる。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・SBIは「尤度を明示しにくい」シミュレータ/サロゲートに適した同定法。
・少数SEM条件でも“妥当なzの範囲”を得ることを重視する。
[Sources]
- https://joss.theoj.org/papers/10.21105/joss.07754 (sbi reloaded: SBI toolkit)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・図はイメージ。実装では学習ログ（JSON/CSV）から同様の曲線を生成し、比較可能にする。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・Validation/Testでは、数値KPIに加えて断面輪郭画像を保存し、形状としての妥当性を確認する。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・同じコンポーネントを用途別に再利用する設計（学習→推論→同定→探索）。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・本スライドは「用途×部品」で整理。第三者が全体像を把握し、どこを拡張すべきか判断しやすくする。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・本資料は実装中心：SDF narrow band + Sparse CNN（Vn閉包）+ LS更新 + 蒸留 + 同定。
・拡張は段階的に追加できる（まずは安定に回る最小構成を優先）。
[Sources]
- https://www.sciencedirect.com/science/article/pii/S2352711025004194 (ViennaPS)
- https://nvidia.github.io/MinkowskiEngine/sparse_tensor_network.html (SparseTensor)
- https://joss.theoj.org/papers/10.21105/joss.07754 (sbi reloaded)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形状シミュレーション・サロゲート実装（要点）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narrow band × Sparse CNN（Vn閉包）× レベルセット更新 × 蒸留 × 同定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9496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この実装で「できるようにすること」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MC形状シミュレーションを高速代替（時間発展を出力）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形状連続性をSDF/レベルセットで担保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入力爆発を潜在 z に集約しSEMで同定（MAP/SBI）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学習時のみ内部ログを使い蒸留 → 推論は軽量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617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78408" y="4727448"/>
            <a:ext cx="138074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（推論）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4617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15768" y="4727448"/>
            <a:ext cx="138074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（SEM）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4617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53128" y="4727448"/>
            <a:ext cx="138074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（連続）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548640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全体ワークフロー（実装観点）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1691640"/>
            <a:ext cx="2103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1801368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MC出力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(voxel, log)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2011680"/>
            <a:ext cx="73152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72600" y="1691640"/>
            <a:ext cx="2103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82328" y="1801368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voxel→SDF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+narrow band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521440" y="2011680"/>
            <a:ext cx="457200" cy="50292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927080" y="2560320"/>
            <a:ext cx="2377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036808" y="2670048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Vn教師生成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(Δφ/|∇φ|)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115800" y="3264408"/>
            <a:ext cx="0" cy="484632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927080" y="374904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036808" y="385876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 CNN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(Vn閉包)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698480" y="4114800"/>
            <a:ext cx="0" cy="54864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23960" y="448056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33688" y="459028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レベルセット更新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φ←φ−dt·Vn|∇φ|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78240" y="4846320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46520" y="4480560"/>
            <a:ext cx="2103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56248" y="4590288"/>
            <a:ext cx="1883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時系列出力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(SDF/VTI)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3429000"/>
            <a:ext cx="2103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56248" y="3538728"/>
            <a:ext cx="188366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SEM特徴→同定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(z: MAP/SBI)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95360" y="3794760"/>
            <a:ext cx="2286000" cy="32004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背景：本コードが無い場合の課題（現状）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 MCは高コスト／実測は少数SEM／入力変数が多い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6692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主なボトルネック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5166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 MCが遅い（2時間以上）＋メモリ大量 → 探索・同定が回らない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反射/再入射/拡散など複雑な物理 → 入力が増え学習が困難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SEMは最終形状中心（~10条件）→ 何が足りない物理か不明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voxel直接学習だとデータ爆増（過去：1万条件+）で運用破綻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234440"/>
            <a:ext cx="52120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計算コストのイメージ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583680" y="1737360"/>
          <a:ext cx="48463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6583680" y="4160520"/>
          <a:ext cx="4846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解決方針：実装したサロゲートの構成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「形状」ではなく「界面速度Vn」を学び、幾何更新で時間発展を担保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主要コンポーネント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057400" cy="114300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938528"/>
            <a:ext cx="1837944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(voxel→φ)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2400300"/>
            <a:ext cx="2286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1828800"/>
            <a:ext cx="2057400" cy="114300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938528"/>
            <a:ext cx="1837944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(表面近傍)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6360" y="2400300"/>
            <a:ext cx="2286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94960" y="1828800"/>
            <a:ext cx="2057400" cy="1143000"/>
          </a:xfrm>
          <a:prstGeom prst="roundRect">
            <a:avLst/>
          </a:prstGeom>
          <a:solidFill>
            <a:srgbClr val="FF7F0E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04688" y="1938528"/>
            <a:ext cx="1837944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 CNN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(Vn予測)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52360" y="2400300"/>
            <a:ext cx="2286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1828800"/>
            <a:ext cx="2057400" cy="114300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0688" y="1938528"/>
            <a:ext cx="1837944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レベルセット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(形状更新)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38360" y="2400300"/>
            <a:ext cx="2286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66960" y="1828800"/>
            <a:ext cx="2057400" cy="114300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76688" y="1938528"/>
            <a:ext cx="1837944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同定/蒸留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(SEM/内部ログ)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291840"/>
            <a:ext cx="2048256" cy="320040"/>
          </a:xfrm>
          <a:prstGeom prst="roundRect">
            <a:avLst/>
          </a:prstGeom>
          <a:solidFill>
            <a:srgbClr val="1F77B4">
              <a:alpha val="15000"/>
            </a:srgbClr>
          </a:solidFill>
          <a:ln w="12700">
            <a:solidFill>
              <a:srgbClr val="1F77B4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3558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ポイント1：連続性（SDF/LS）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749040"/>
            <a:ext cx="2596896" cy="320040"/>
          </a:xfrm>
          <a:prstGeom prst="roundRect">
            <a:avLst/>
          </a:prstGeom>
          <a:solidFill>
            <a:srgbClr val="2CA02C">
              <a:alpha val="15000"/>
            </a:srgbClr>
          </a:solidFill>
          <a:ln w="12700">
            <a:solidFill>
              <a:srgbClr val="2CA02C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813048"/>
            <a:ext cx="2322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ポイント2：データ効率（Vn教師を大量生成）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206240"/>
            <a:ext cx="2816352" cy="320040"/>
          </a:xfrm>
          <a:prstGeom prst="roundRect">
            <a:avLst/>
          </a:prstGeom>
          <a:solidFill>
            <a:srgbClr val="FF7F0E">
              <a:alpha val="15000"/>
            </a:srgbClr>
          </a:solidFill>
          <a:ln w="12700">
            <a:solidFill>
              <a:srgbClr val="FF7F0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27024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ポイント3：実測吸収（latent z を同定）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663440"/>
            <a:ext cx="2267712" cy="320040"/>
          </a:xfrm>
          <a:prstGeom prst="roundRect">
            <a:avLst/>
          </a:prstGeom>
          <a:solidFill>
            <a:srgbClr val="D62728">
              <a:alpha val="15000"/>
            </a:srgbClr>
          </a:solidFill>
          <a:ln w="12700">
            <a:solidFill>
              <a:srgbClr val="D62728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727448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ポイント4：内部影響（蒸留で取り込み）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3657600"/>
            <a:ext cx="37033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44968" y="3767328"/>
            <a:ext cx="3483864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高速化の源泉
・計算点数：全体→表面近傍へ
・計算：Dense→Sparseへ
・更新：NN予測＋幾何積分
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形状表現：voxel・表面・SDFの位置づけ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voxel→表面中心へ移すことで「計算の主戦場」を縮める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表現の比較（概念図）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3429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8105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 occupancy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8105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表面（mesh/点群）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429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01000" y="18105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SDF（Signed Distance Field）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430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240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468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2697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2697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00200" y="2697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26974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26974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26974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14600" y="26974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2697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71800" y="2697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2697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29260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71600" y="29260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0200" y="29260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0" y="29260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57400" y="29260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29260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14600" y="29260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0" y="29260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71800" y="29260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29260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31546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0" y="31546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0200" y="31546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28800" y="31546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57400" y="31546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0" y="31546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31546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0" y="31546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71800" y="31546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31546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3000" y="3383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0" y="3383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00200" y="3383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28800" y="33832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57400" y="33832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86000" y="33832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14600" y="3383280"/>
            <a:ext cx="228600" cy="228600"/>
          </a:xfrm>
          <a:prstGeom prst="rect">
            <a:avLst/>
          </a:prstGeom>
          <a:solidFill>
            <a:srgbClr val="A7D5F5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0" y="3383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3383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33832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30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716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002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288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574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860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5146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718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00400" y="36118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30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3716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6002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288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574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2860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146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432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9718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00400" y="384048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43000" y="4160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体積全体を保持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→高次元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4892040" y="3794760"/>
            <a:ext cx="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892040" y="2606040"/>
            <a:ext cx="11887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80760" y="2606040"/>
            <a:ext cx="182880" cy="3657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63640" y="2971800"/>
            <a:ext cx="8229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086600" y="2971800"/>
            <a:ext cx="182880" cy="8229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63440" y="4160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界面のみ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→軽いが更新が難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8183880" y="22402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03920" y="2468880"/>
            <a:ext cx="2148840" cy="13716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41080" y="2578608"/>
            <a:ext cx="1874520" cy="1170432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778240" y="2688336"/>
            <a:ext cx="1600200" cy="969264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D627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15400" y="2798064"/>
            <a:ext cx="1325880" cy="76809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052560" y="2907792"/>
            <a:ext cx="1051560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83880" y="41605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φ=0が表面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連続性◎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位相変化◎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22960" y="4754880"/>
            <a:ext cx="2157984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96112" y="482803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2980944" y="4754880"/>
            <a:ext cx="2157984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054096" y="482803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計算量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5138928" y="4754880"/>
            <a:ext cx="2157984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212080" y="482803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連続性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7296912" y="4754880"/>
            <a:ext cx="2157984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370064" y="482803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位相変化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9454896" y="4754880"/>
            <a:ext cx="2157984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528048" y="482803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本実装での役割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822960" y="516636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96112" y="523951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2980944" y="516636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054096" y="523951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5138928" y="516636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212080" y="523951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7296912" y="516636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370064" y="523951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9454896" y="516636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528048" y="523951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入力（元データ）→SDFに変換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22960" y="557784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6112" y="565099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2980944" y="557784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054096" y="565099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軽い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5138928" y="557784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212080" y="565099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7296912" y="557784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370064" y="565099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9454896" y="557784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528048" y="565099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可視化/特徴（断面輪郭など）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22960" y="598932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96112" y="606247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2980944" y="598932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054096" y="606247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中（narrow bandで軽）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5138928" y="598932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212080" y="606247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7296912" y="598932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370064" y="606247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9454896" y="5989320"/>
            <a:ext cx="21579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528048" y="606247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状態（φ）＋更新（LS）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voxel→表面中心へ：narrow bandで「計算点」を削る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全体体積ではなく、形状更新に効く“表面近傍”へ集中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6692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概念図：全体 vs 表面近傍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4937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103120"/>
            <a:ext cx="4389120" cy="2560320"/>
          </a:xfrm>
          <a:prstGeom prst="rect">
            <a:avLst/>
          </a:prstGeom>
          <a:solidFill>
            <a:srgbClr val="2CA02C">
              <a:alpha val="1200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全体格子（dense）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band（|φ|&lt;w）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＝表面近傍の薄いシェル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52120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効果：点数（計算量）削減イメージ</a:t>
            </a:r>
            <a:endParaRPr lang="en-US" sz="14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583680" y="1783080"/>
          <a:ext cx="48463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583680" y="4160520"/>
            <a:ext cx="4846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93408" y="4270248"/>
            <a:ext cx="4626864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ここが効く：
・SDFはφ=0近傍で更新が決まる
・Sparse CNNは有効点だけ畳み込み
・学習サンプルが“表面点×時間”で増える
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前処理：voxel→SDF（φ）→narrow band→特徴量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“形状更新に必要な情報”だけを抽出し、学習を成立させる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前処理フロー（実装）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737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1847088"/>
            <a:ext cx="224942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voxel occupancy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材料/空隙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21742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86200" y="1737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95928" y="1847088"/>
            <a:ext cx="224942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距離変換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内外で符号付け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21742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03720" y="1737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13448" y="1847088"/>
            <a:ext cx="224942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narrow band抽出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|φ|&lt;w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8320" y="221742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21240" y="1737360"/>
            <a:ext cx="2606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30968" y="1847088"/>
            <a:ext cx="238658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特徴量生成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φ,∇φ,κ,ID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2880360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voxel（断面イメージ）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44168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5336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46504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7672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0008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1176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52344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53512" y="34747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44168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45336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46504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47672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48840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0008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1176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52344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53512" y="367588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44168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45336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46504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47672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48840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50008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51176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52344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53512" y="387705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43000" y="407822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44168" y="407822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45336" y="407822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46504" y="407822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47672" y="407822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48840" y="407822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50008" y="407822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51176" y="407822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52344" y="407822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53512" y="407822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43000" y="427939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44168" y="427939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45336" y="427939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46504" y="427939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47672" y="427939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48840" y="427939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50008" y="427939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51176" y="427939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52344" y="427939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53512" y="427939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43000" y="448056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44168" y="448056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45336" y="448056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46504" y="4480560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947672" y="4480560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48840" y="4480560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50008" y="4480560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51176" y="448056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52344" y="448056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53512" y="448056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43000" y="46817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44168" y="46817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545336" y="46817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46504" y="4681728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947672" y="4681728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48840" y="4681728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50008" y="4681728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51176" y="46817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752344" y="46817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53512" y="4681728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" y="48828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344168" y="48828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545336" y="48828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46504" y="4882896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947672" y="4882896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148840" y="4882896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350008" y="4882896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51176" y="48828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52344" y="48828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953512" y="488289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43000" y="50840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344168" y="50840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545336" y="50840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46504" y="508406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47672" y="508406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148840" y="508406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350008" y="5084064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50840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752344" y="50840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953512" y="5084064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43000" y="52852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344168" y="52852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545336" y="52852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46504" y="528523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947672" y="528523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48840" y="528523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350008" y="5285232"/>
            <a:ext cx="201168" cy="201168"/>
          </a:xfrm>
          <a:prstGeom prst="rect">
            <a:avLst/>
          </a:prstGeom>
          <a:solidFill>
            <a:srgbClr val="BFE3FB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551176" y="52852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752344" y="52852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53512" y="528523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31920" y="2880360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93192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φ（等値線）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4343400" y="3611880"/>
            <a:ext cx="237744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453128" y="3721608"/>
            <a:ext cx="2157984" cy="19751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62856" y="3831336"/>
            <a:ext cx="1938528" cy="17556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72584" y="3941064"/>
            <a:ext cx="1719072" cy="15361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82312" y="4050792"/>
            <a:ext cx="1499616" cy="131673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892040" y="4160520"/>
            <a:ext cx="1280160" cy="109728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31920" y="5852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φ=0が表面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6995160" y="2880360"/>
            <a:ext cx="4663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995160" y="3017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band点（SparseTensor入力）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8641080" y="4069080"/>
            <a:ext cx="1828800" cy="1463040"/>
          </a:xfrm>
          <a:prstGeom prst="ellipse">
            <a:avLst/>
          </a:prstGeom>
          <a:solidFill>
            <a:srgbClr val="2CA02C">
              <a:alpha val="800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558784" y="400507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51392" y="400507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144000" y="400507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436608" y="400507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729216" y="400507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021824" y="400507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58784" y="426110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851392" y="426110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144000" y="426110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36608" y="426110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729216" y="426110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021824" y="426110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558784" y="45171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851392" y="45171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144000" y="45171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436608" y="45171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729216" y="45171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021824" y="45171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178040" y="58064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座標＋特徴（φ,∇φ,κ,ID）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SDF系手法の詳細：生成・維持・更新の選択肢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実装は「グリッドSDF＋再距離化」を中心に、将来はNeural SDFへ拡張可能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0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SDFのライフサイクル（図）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1892808"/>
            <a:ext cx="1700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（距離変換）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178308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1892808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（LS step）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210312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97880" y="178308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07608" y="189280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（再距離化）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2468880"/>
            <a:ext cx="0" cy="59436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46120" y="3063240"/>
            <a:ext cx="2194560" cy="73152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55848" y="3172968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計算対象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（narrow band）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ポイント：更新でSDF性（|∇φ|=1）が崩れる→再距離化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5852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4617720"/>
            <a:ext cx="46634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3352" y="4709160"/>
            <a:ext cx="4334256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37944" y="4800600"/>
            <a:ext cx="4005072" cy="1097280"/>
          </a:xfrm>
          <a:prstGeom prst="ellipse">
            <a:avLst/>
          </a:prstGeom>
          <a:solidFill>
            <a:srgbClr val="FFFFFF">
              <a:alpha val="0"/>
            </a:srgbClr>
          </a:solidFill>
          <a:ln w="27940">
            <a:solidFill>
              <a:srgbClr val="D627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2536" y="4892040"/>
            <a:ext cx="3675888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67128" y="4983480"/>
            <a:ext cx="3346704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5074920"/>
            <a:ext cx="301752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φ=0（表面）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|∇φ|≈1 を維持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1234440"/>
            <a:ext cx="448056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再距離化・SDF手法（比較）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0" y="1737360"/>
            <a:ext cx="2057400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18105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72600" y="1737360"/>
            <a:ext cx="2057400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45752" y="18105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用途/長所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21945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22677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距離変換（DT）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72600" y="21945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45752" y="22677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voxel→初期SDFに最短。実装容易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26517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27249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Fast Marching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372600" y="26517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45752" y="27249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SDF性を回復。高速・安定（再初期化）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0" y="31089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88352" y="31821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PDE再初期化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72600" y="31089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45752" y="31821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高精度だが重い（研究向き）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0" y="35661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36393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SDF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372600" y="3566160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45752" y="3639312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高解像・連続。学習/運用が重くなり得る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15200" y="4709160"/>
            <a:ext cx="4114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424928" y="4818888"/>
            <a:ext cx="3895344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本実装の基本：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・DTで初期φ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・更新はLS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・数ステップ毎に再距離化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（将来：Neural SDFへ拡張）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教師ラベル：SDF差分からVnを作る（データ効率の要）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1つの3D run から「表面点×時間」の大量教師を生成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6692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Vn推定（式と概念図）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847088"/>
            <a:ext cx="4901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Vn(x,t) ≈ ( φ_t(x) − φ_{t+Δt}(x) ) / ( Δt · |∇φ_t(x)| 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・narrow band点のみで計算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・|∇φ|が小さい点はマスク/クリップ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306324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φ_t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32004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φ_{t+Δt}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25880" y="3611880"/>
            <a:ext cx="17373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3657600"/>
            <a:ext cx="17373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35608" y="3721608"/>
            <a:ext cx="1572768" cy="1115568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8848" y="3767328"/>
            <a:ext cx="1572768" cy="1115568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5336" y="3831336"/>
            <a:ext cx="1408176" cy="95097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3877056"/>
            <a:ext cx="1408176" cy="95097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55064" y="3941064"/>
            <a:ext cx="1243584" cy="78638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8304" y="3986784"/>
            <a:ext cx="1243584" cy="78638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4526280"/>
            <a:ext cx="36576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057400" y="4937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界面の移動量 → 速度Vn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234440"/>
            <a:ext cx="52120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なぜ効く？（学習データ効率）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1737360"/>
            <a:ext cx="4846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3408" y="1847088"/>
            <a:ext cx="4626864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voxel直学習：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入力=3D全体、出力=3D全体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学習に多条件が必要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本実装：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入力=表面近傍点、出力=Vn（スカラー）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1 run から大量の教師が取れる</a:t>
            </a:r>
            <a:endParaRPr lang="en-US" sz="14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6583680" y="3886200"/>
          <a:ext cx="48463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 CNN採用理由：narrow bandをそのまま計算できる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Dense 3D CNNの無駄を削り、3Dでも運用しやすい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Dense vs Sparse（概念）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Dense 3D CNN（全格子を畳み込み）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2331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574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862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434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0" y="2560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30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002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574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146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718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290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862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434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578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0" y="2788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430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002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288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574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2860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5146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718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004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4290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576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862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148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3434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006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0292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578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716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6002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288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0574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2860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5146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432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718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2004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290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576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862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1148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3434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5720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8006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0292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578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486400" y="3246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430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3716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002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8288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574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2860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5146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7432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9718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2004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4290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8862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148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434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720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8006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292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2578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430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716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6002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8288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0574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2860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146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432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9718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2004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4290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6576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8862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1148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3434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5720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006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0292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578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86400" y="3703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430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3716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6002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8288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0574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2860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5146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7432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9718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2004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4290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6576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8862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1148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3434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5720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8006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0292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2578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486400" y="3931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1430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3716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6002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8288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0574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2860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5146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432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9718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2004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290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6576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862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1148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3434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5720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8006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0292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2578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486400" y="4160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430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3716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6002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8288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0574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2860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5146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432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9718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2004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4290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6576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8862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1148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3434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5720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8006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0292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2578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486400" y="4389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430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3716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6002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8288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20574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2860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5146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432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9718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2004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4290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6576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8862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1148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3434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5720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8006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0292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2578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486400" y="4617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430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3716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6002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8288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20574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2860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5146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432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9718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32004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4290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6576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8862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1148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3434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5720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8006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50292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2578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486400" y="48463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1430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3716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6002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8288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20574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2860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25146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432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9718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2004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4290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6576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8862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1148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3434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5720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8006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50292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52578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486400" y="50749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1430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3716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6002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8288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0574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22860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5146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7432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9718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2004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4290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6576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8862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1148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3434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5720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8006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0292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2578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486400" y="53035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1430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3716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6002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8288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20574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22860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25146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27432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29718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2004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4290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6576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38862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1148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3434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5720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8006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0292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2578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486400" y="55321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1430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3716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6002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8288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20574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2860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5146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7432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29718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32004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34290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36576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38862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41148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43434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45720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48006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50292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52578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5486400" y="5760720"/>
            <a:ext cx="54864" cy="5486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463040" y="3063240"/>
            <a:ext cx="4389120" cy="1234440"/>
          </a:xfrm>
          <a:prstGeom prst="rect">
            <a:avLst/>
          </a:prstGeom>
          <a:solidFill>
            <a:srgbClr val="2CA02C">
              <a:alpha val="1000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1463040" y="4343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更新に効くのはこの帯域</a:t>
            </a:r>
            <a:endParaRPr lang="en-US" sz="1200" dirty="0"/>
          </a:p>
        </p:txBody>
      </p:sp>
      <p:sp>
        <p:nvSpPr>
          <p:cNvPr id="331" name="Shape 329"/>
          <p:cNvSpPr/>
          <p:nvPr/>
        </p:nvSpPr>
        <p:spPr>
          <a:xfrm>
            <a:off x="6629400" y="1783080"/>
            <a:ext cx="4983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6629400" y="18745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 CNN（有効点のみ畳み込み）</a:t>
            </a:r>
            <a:endParaRPr lang="en-US" sz="1400" dirty="0"/>
          </a:p>
        </p:txBody>
      </p:sp>
      <p:sp>
        <p:nvSpPr>
          <p:cNvPr id="333" name="Shape 331"/>
          <p:cNvSpPr/>
          <p:nvPr/>
        </p:nvSpPr>
        <p:spPr>
          <a:xfrm>
            <a:off x="7744968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7955280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165592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375904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586216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796528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9006840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9217152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9427464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9637776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9848088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0058400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0268712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479024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689336" y="320954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7744968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955280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165592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375904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586216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8796528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9006840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9217152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427464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637776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9848088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058400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0268712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0479024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0689336" y="342900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7744968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7955280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165592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375904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8586216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8796528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9006840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9217152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9427464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9637776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9848088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0058400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10268712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0479024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10689336" y="36484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7744968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7955280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8165592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8375904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8586216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8796528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9006840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9217152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9427464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9637776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9848088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10058400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10268712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10479024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0689336" y="38679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7744968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7955280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8165592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8375904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8586216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8796528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9006840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9217152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9427464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637776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9848088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10058400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10268712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10479024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10689336" y="4087368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6629400" y="59893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点数が少ない→計算/メモリ削減</a:t>
            </a:r>
            <a:endParaRPr lang="en-US" sz="1200" dirty="0"/>
          </a:p>
        </p:txBody>
      </p:sp>
      <p:sp>
        <p:nvSpPr>
          <p:cNvPr id="409" name="Shape 407"/>
          <p:cNvSpPr/>
          <p:nvPr/>
        </p:nvSpPr>
        <p:spPr>
          <a:xfrm>
            <a:off x="868680" y="5623560"/>
            <a:ext cx="3581400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941832" y="569671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300" dirty="0"/>
          </a:p>
        </p:txBody>
      </p:sp>
      <p:sp>
        <p:nvSpPr>
          <p:cNvPr id="411" name="Shape 409"/>
          <p:cNvSpPr/>
          <p:nvPr/>
        </p:nvSpPr>
        <p:spPr>
          <a:xfrm>
            <a:off x="4450080" y="5623560"/>
            <a:ext cx="3581400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2" name="Text 410"/>
          <p:cNvSpPr/>
          <p:nvPr/>
        </p:nvSpPr>
        <p:spPr>
          <a:xfrm>
            <a:off x="4523232" y="569671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Dense 3D CNN</a:t>
            </a:r>
            <a:endParaRPr lang="en-US" sz="1300" dirty="0"/>
          </a:p>
        </p:txBody>
      </p:sp>
      <p:sp>
        <p:nvSpPr>
          <p:cNvPr id="413" name="Shape 411"/>
          <p:cNvSpPr/>
          <p:nvPr/>
        </p:nvSpPr>
        <p:spPr>
          <a:xfrm>
            <a:off x="8031480" y="5623560"/>
            <a:ext cx="3581400" cy="41148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8104632" y="569671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 CNN（本実装）</a:t>
            </a:r>
            <a:endParaRPr lang="en-US" sz="1300" dirty="0"/>
          </a:p>
        </p:txBody>
      </p:sp>
      <p:sp>
        <p:nvSpPr>
          <p:cNvPr id="415" name="Shape 413"/>
          <p:cNvSpPr/>
          <p:nvPr/>
        </p:nvSpPr>
        <p:spPr>
          <a:xfrm>
            <a:off x="868680" y="603504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6" name="Text 414"/>
          <p:cNvSpPr/>
          <p:nvPr/>
        </p:nvSpPr>
        <p:spPr>
          <a:xfrm>
            <a:off x="941832" y="610819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計算点</a:t>
            </a:r>
            <a:endParaRPr lang="en-US" sz="1200" dirty="0"/>
          </a:p>
        </p:txBody>
      </p:sp>
      <p:sp>
        <p:nvSpPr>
          <p:cNvPr id="417" name="Shape 415"/>
          <p:cNvSpPr/>
          <p:nvPr/>
        </p:nvSpPr>
        <p:spPr>
          <a:xfrm>
            <a:off x="4450080" y="603504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4523232" y="610819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全格子</a:t>
            </a:r>
            <a:endParaRPr lang="en-US" sz="1200" dirty="0"/>
          </a:p>
        </p:txBody>
      </p:sp>
      <p:sp>
        <p:nvSpPr>
          <p:cNvPr id="419" name="Shape 417"/>
          <p:cNvSpPr/>
          <p:nvPr/>
        </p:nvSpPr>
        <p:spPr>
          <a:xfrm>
            <a:off x="8031480" y="603504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8104632" y="610819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band点のみ</a:t>
            </a:r>
            <a:endParaRPr lang="en-US" sz="1200" dirty="0"/>
          </a:p>
        </p:txBody>
      </p:sp>
      <p:sp>
        <p:nvSpPr>
          <p:cNvPr id="421" name="Shape 419"/>
          <p:cNvSpPr/>
          <p:nvPr/>
        </p:nvSpPr>
        <p:spPr>
          <a:xfrm>
            <a:off x="868680" y="644652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2" name="Text 420"/>
          <p:cNvSpPr/>
          <p:nvPr/>
        </p:nvSpPr>
        <p:spPr>
          <a:xfrm>
            <a:off x="941832" y="651967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1200" dirty="0"/>
          </a:p>
        </p:txBody>
      </p:sp>
      <p:sp>
        <p:nvSpPr>
          <p:cNvPr id="423" name="Shape 421"/>
          <p:cNvSpPr/>
          <p:nvPr/>
        </p:nvSpPr>
        <p:spPr>
          <a:xfrm>
            <a:off x="4450080" y="644652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4" name="Text 422"/>
          <p:cNvSpPr/>
          <p:nvPr/>
        </p:nvSpPr>
        <p:spPr>
          <a:xfrm>
            <a:off x="4523232" y="651967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</a:t>
            </a:r>
            <a:endParaRPr lang="en-US" sz="1200" dirty="0"/>
          </a:p>
        </p:txBody>
      </p:sp>
      <p:sp>
        <p:nvSpPr>
          <p:cNvPr id="425" name="Shape 423"/>
          <p:cNvSpPr/>
          <p:nvPr/>
        </p:nvSpPr>
        <p:spPr>
          <a:xfrm>
            <a:off x="8031480" y="644652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6" name="Text 424"/>
          <p:cNvSpPr/>
          <p:nvPr/>
        </p:nvSpPr>
        <p:spPr>
          <a:xfrm>
            <a:off x="8104632" y="651967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</a:t>
            </a:r>
            <a:endParaRPr lang="en-US" sz="1200" dirty="0"/>
          </a:p>
        </p:txBody>
      </p:sp>
      <p:sp>
        <p:nvSpPr>
          <p:cNvPr id="427" name="Shape 425"/>
          <p:cNvSpPr/>
          <p:nvPr/>
        </p:nvSpPr>
        <p:spPr>
          <a:xfrm>
            <a:off x="868680" y="685800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8" name="Text 426"/>
          <p:cNvSpPr/>
          <p:nvPr/>
        </p:nvSpPr>
        <p:spPr>
          <a:xfrm>
            <a:off x="941832" y="693115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3D高解像</a:t>
            </a:r>
            <a:endParaRPr lang="en-US" sz="1200" dirty="0"/>
          </a:p>
        </p:txBody>
      </p:sp>
      <p:sp>
        <p:nvSpPr>
          <p:cNvPr id="429" name="Shape 427"/>
          <p:cNvSpPr/>
          <p:nvPr/>
        </p:nvSpPr>
        <p:spPr>
          <a:xfrm>
            <a:off x="4450080" y="685800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4523232" y="693115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厳しい</a:t>
            </a:r>
            <a:endParaRPr lang="en-US" sz="1200" dirty="0"/>
          </a:p>
        </p:txBody>
      </p:sp>
      <p:sp>
        <p:nvSpPr>
          <p:cNvPr id="431" name="Shape 429"/>
          <p:cNvSpPr/>
          <p:nvPr/>
        </p:nvSpPr>
        <p:spPr>
          <a:xfrm>
            <a:off x="8031480" y="6858000"/>
            <a:ext cx="3581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2" name="Text 430"/>
          <p:cNvSpPr/>
          <p:nvPr/>
        </p:nvSpPr>
        <p:spPr>
          <a:xfrm>
            <a:off x="8104632" y="6931152"/>
            <a:ext cx="3435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運用しやすい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ネットワーク詳細：Sparse U-Net + FiLM（条件注入）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Vn（スカラー）を予測する“閉包モデル”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構造図（概念）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029968"/>
            <a:ext cx="2066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入力：SparseTensor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(coords + feat)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28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99008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feat例：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φ,∇φ,κ,ID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2286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3721608"/>
            <a:ext cx="2066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条件：c（レシピ）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z（潜在）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2286000"/>
            <a:ext cx="6858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86200" y="2103120"/>
            <a:ext cx="2011680" cy="59436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95928" y="2212848"/>
            <a:ext cx="17922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Enc-1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SparseConv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697480"/>
            <a:ext cx="0" cy="18288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86200" y="2880360"/>
            <a:ext cx="2011680" cy="59436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95928" y="2990088"/>
            <a:ext cx="17922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Enc-2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Downsample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3474720"/>
            <a:ext cx="0" cy="18288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86200" y="3657600"/>
            <a:ext cx="2011680" cy="59436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95928" y="3767328"/>
            <a:ext cx="17922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Enc-3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Downsample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2194560" cy="77724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27648" y="3721608"/>
            <a:ext cx="197510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Bottleneck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SparseResBlocks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0" y="3657600"/>
            <a:ext cx="2011680" cy="59436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96528" y="3767328"/>
            <a:ext cx="17922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Dec-3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Upsample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3657600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86800" y="2880360"/>
            <a:ext cx="2011680" cy="59436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96528" y="2990088"/>
            <a:ext cx="17922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Dec-2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Upsample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2880360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86800" y="2103120"/>
            <a:ext cx="2011680" cy="59436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96528" y="2212848"/>
            <a:ext cx="17922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Dec-1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SparseConv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005072"/>
            <a:ext cx="19202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897880" y="2400300"/>
            <a:ext cx="278892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3177540"/>
            <a:ext cx="278892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3954780"/>
            <a:ext cx="278892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86200" y="4709160"/>
            <a:ext cx="6400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995928" y="4818888"/>
            <a:ext cx="6181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FiLM：条件（c,z）→ 各ブロックのγ,βで特徴を変調（レジーム差を吸収）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965960" y="4251960"/>
            <a:ext cx="1920240" cy="45720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789920" y="2194560"/>
            <a:ext cx="777240" cy="1097280"/>
          </a:xfrm>
          <a:prstGeom prst="roundRect">
            <a:avLst/>
          </a:prstGeom>
          <a:solidFill>
            <a:srgbClr val="D62728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899648" y="2304288"/>
            <a:ext cx="5577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698480" y="2395728"/>
            <a:ext cx="91440" cy="301752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入力設計：上位ノブcと潜在zで「入力爆発」を止める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観測できないフラックス/反応はzへ集約し、SEMで同定して吸収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入力の分解（概念）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847088"/>
            <a:ext cx="499262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明示する入力（c）：装置で制御できる上位ノブ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例：圧力/RF/温度/ガス比/バイアス …（~10次元へ要約）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3264408"/>
            <a:ext cx="4992624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潜在に集約（z）：直接測れない・不足物理の受け皿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例：角度分布・有効フラックス・反射/再入射の実効・表面反応の有効率 …（8–32次元）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4910328"/>
            <a:ext cx="499262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幾何コンテキスト：SDF narrow band特徴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φ,∇φ,κ（曲率）, material/mask ID, 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5212080" cy="114300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1984248"/>
            <a:ext cx="4992624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レシピ（多数変数）→ c（要約）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3017520"/>
            <a:ext cx="0" cy="36576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3429000"/>
            <a:ext cx="5212080" cy="114300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0528" y="3538728"/>
            <a:ext cx="4992624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未知のフラックス/反応 → z（潜在）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（SEMで同定）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4572000"/>
            <a:ext cx="0" cy="32004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4937760"/>
            <a:ext cx="5212080" cy="141732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5047488"/>
            <a:ext cx="4992624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 CNN（Vn閉包）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入力：幾何 + c + z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蒸留：学習時のみ内部ログを使い、運用は軽量に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反射・再入射など“内部影響”をTeacherで学び、Studentへ移す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Teacher–Student設計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3474720" cy="731520"/>
          </a:xfrm>
          <a:prstGeom prst="roundRect">
            <a:avLst/>
          </a:prstGeom>
          <a:solidFill>
            <a:srgbClr val="D62728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938528"/>
            <a:ext cx="32552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Teacher（学習専用）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474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807208"/>
            <a:ext cx="32552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入力：幾何 + c + 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内部ログ（特権）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3474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3813048"/>
            <a:ext cx="325526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出力：Vn（高精度）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5262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内部ログ例：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・直接/反射フラックス統計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・入射角/エネルギー分布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・再入射回数 など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828800"/>
            <a:ext cx="3474720" cy="73152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938528"/>
            <a:ext cx="32552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Student（本番）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3474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2807208"/>
            <a:ext cx="32552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入力：幾何 + c + 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（内部ログなし）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703320"/>
            <a:ext cx="3474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18888" y="3813048"/>
            <a:ext cx="325526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出力：Vn（運用）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43400" y="3246120"/>
            <a:ext cx="36576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977640" y="2697480"/>
            <a:ext cx="73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蒸留（distill）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・出力一致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・中間表現一致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49640" y="1828800"/>
            <a:ext cx="30632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59368" y="1938528"/>
            <a:ext cx="2843784" cy="3621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効き方：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①内部影響を学習に入れられる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②推論は軽く保てる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③実測ではStudent+同定のみ回せる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（ログ無しでもOK）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32520" y="5852160"/>
            <a:ext cx="2651760" cy="0"/>
          </a:xfrm>
          <a:prstGeom prst="line">
            <a:avLst/>
          </a:prstGeom>
          <a:noFill/>
          <a:ln w="381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5769864"/>
            <a:ext cx="164592" cy="164592"/>
          </a:xfrm>
          <a:prstGeom prst="ellipse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01400" y="5769864"/>
            <a:ext cx="164592" cy="164592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5989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重いが正確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07040" y="5989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軽い運用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推論の中核：Vn予測 + レベルセット更新（形状連続性）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NNは“局所速度”のみ。形状の一貫性は幾何更新が担保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推論ループ（図）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847088"/>
            <a:ext cx="508406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更新式： φ_{t+Δt} = φ_t − Δt · Vn · |∇φ_t|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（必要に応じて再距離化：|∇φ|≈1を回復）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2377440" cy="68580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4128" y="2944368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入力φ_t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（SDF）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3182112"/>
            <a:ext cx="50292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2834640"/>
            <a:ext cx="2743200" cy="68580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95928" y="2944368"/>
            <a:ext cx="25237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特徴生成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3182112"/>
            <a:ext cx="5486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2834640"/>
            <a:ext cx="2743200" cy="68580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79208" y="2944368"/>
            <a:ext cx="25237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 NN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Vn予測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12680" y="3182112"/>
            <a:ext cx="457200" cy="429768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3703320"/>
            <a:ext cx="2971800" cy="77724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79408" y="3813048"/>
            <a:ext cx="275234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レベルセット更新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+再距離化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23960" y="4096512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17520" y="4096512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4800600"/>
            <a:ext cx="2788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47888" y="4910328"/>
            <a:ext cx="256946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出力：φ_{t+Δt}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（時系列保存）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378440" y="4096512"/>
            <a:ext cx="0" cy="704088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83680" y="1737360"/>
            <a:ext cx="5029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3408" y="1847088"/>
            <a:ext cx="4809744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安定性の理由：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・形状の連続性/位相変化をLSが吸収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・NNはスカラー場Vnを出すだけ（学習が簡単）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・SDF性を再距離化で維持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3337560"/>
            <a:ext cx="5029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429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位相変化（例）：穴の開閉もSDFで自然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0" y="3840480"/>
            <a:ext cx="1920240" cy="19202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434340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8280" y="4800600"/>
            <a:ext cx="36576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46920" y="3840480"/>
            <a:ext cx="1920240" cy="19202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41280" y="443484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5532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195560" y="55321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t+Δt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出力：時間ごとの形状（SDF/断面）と可視化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運用では「時系列SDF → VTI/PVD → 断面/輪郭」を出す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0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時系列出力（例：t0…tN）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57607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51560" y="17830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6152" y="1947672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7592" y="2039112"/>
            <a:ext cx="365760" cy="3657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91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8840" y="17830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1947672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039112"/>
            <a:ext cx="338328" cy="338328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791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7830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0712" y="1947672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8728" y="203911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6791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17830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1947672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54296" y="2039112"/>
            <a:ext cx="283464" cy="28346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6791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40680" y="17830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5272" y="1947672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9864" y="2039112"/>
            <a:ext cx="256032" cy="25603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6791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27889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保存形式：SDF（φ）/ 等値面 / 断面輪郭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" y="320040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4128" y="3310128"/>
            <a:ext cx="16093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.vti（各時刻）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26080" y="320040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35808" y="3310128"/>
            <a:ext cx="16093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.pvd（系列）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502152"/>
            <a:ext cx="6858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532120" y="3200400"/>
            <a:ext cx="1417320" cy="59436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41848" y="3310128"/>
            <a:ext cx="119786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ParaView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8680" y="3977640"/>
            <a:ext cx="6080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069080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断面スライスPNG（XY/XZ/YZ）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97280" y="4434840"/>
            <a:ext cx="1691640" cy="1691640"/>
          </a:xfrm>
          <a:prstGeom prst="rect">
            <a:avLst/>
          </a:prstGeom>
          <a:solidFill>
            <a:srgbClr val="F7F9FC">
              <a:alpha val="80000"/>
            </a:srgbClr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5715000"/>
            <a:ext cx="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4937760"/>
            <a:ext cx="54864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20240" y="4937760"/>
            <a:ext cx="91440" cy="2743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0" y="5212080"/>
            <a:ext cx="45720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68880" y="5212080"/>
            <a:ext cx="91440" cy="5029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61264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17520" y="4434840"/>
            <a:ext cx="1691640" cy="1691640"/>
          </a:xfrm>
          <a:prstGeom prst="rect">
            <a:avLst/>
          </a:prstGeom>
          <a:solidFill>
            <a:srgbClr val="F7F9FC">
              <a:alpha val="80000"/>
            </a:srgbClr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5715000"/>
            <a:ext cx="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4937760"/>
            <a:ext cx="54864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0" y="4937760"/>
            <a:ext cx="91440" cy="2743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0" y="5212080"/>
            <a:ext cx="45720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0" y="5212080"/>
            <a:ext cx="91440" cy="5029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61264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XZ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937760" y="4434840"/>
            <a:ext cx="1691640" cy="1691640"/>
          </a:xfrm>
          <a:prstGeom prst="rect">
            <a:avLst/>
          </a:prstGeom>
          <a:solidFill>
            <a:srgbClr val="F7F9FC">
              <a:alpha val="80000"/>
            </a:srgbClr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12080" y="5715000"/>
            <a:ext cx="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12080" y="4937760"/>
            <a:ext cx="54864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60720" y="4937760"/>
            <a:ext cx="91440" cy="2743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52160" y="5212080"/>
            <a:ext cx="45720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5212080"/>
            <a:ext cx="91440" cy="5029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61264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YZ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132320" y="1234440"/>
            <a:ext cx="448056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6092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意思決定に使う出力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406640" y="1737360"/>
            <a:ext cx="39776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形状の時間発展（断面の推移）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最終形状のKPI（CD/角度/曲率）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実測SEMとの輪郭差分（画像）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同定した潜在z（妥当域/不確かさ）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06640" y="534924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43800" y="6217920"/>
            <a:ext cx="37033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43800" y="6217920"/>
            <a:ext cx="370332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0" y="542239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KPI推移（例）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実測吸収：SEM特徴で潜在zを同定（MAP / SBI）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モデル本体を固定し、zだけ動かすことで少数実測でも合わせ込む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6692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同定フロー（概念）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89280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SEM画像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214884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78308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58768" y="189280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特徴抽出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(CD/角度/曲率)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560320"/>
            <a:ext cx="0" cy="36576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2971800"/>
            <a:ext cx="2926080" cy="86868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18688" y="3081528"/>
            <a:ext cx="270662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同定：zを更新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（MAP or SBI）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63240" y="3429000"/>
            <a:ext cx="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3063240"/>
            <a:ext cx="2194560" cy="73152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3172968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サロゲート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(推論)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3794760"/>
            <a:ext cx="0" cy="41148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4251960"/>
            <a:ext cx="2194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361688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予測形状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→同じ特徴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4617720"/>
            <a:ext cx="59436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49040" y="425196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58768" y="4361688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(一致度)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234440"/>
            <a:ext cx="521208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と SBI の違い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1737360"/>
            <a:ext cx="1615440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81051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99120" y="1737360"/>
            <a:ext cx="1615440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2272" y="181051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14560" y="1737360"/>
            <a:ext cx="1615440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87712" y="181051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使いどころ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2240280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231343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99120" y="2240280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2272" y="231343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zの点推定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814560" y="2240280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87712" y="231343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まず当てる（実装簡単・高速）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2743200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281635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99120" y="2743200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2272" y="281635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p(z|y)の分布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14560" y="2743200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87712" y="2816352"/>
            <a:ext cx="1469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多峰性/不確かさ込みで同定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3337560"/>
            <a:ext cx="4846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429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SBI：事後分布の例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03720" y="6263640"/>
            <a:ext cx="42062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03720" y="6263640"/>
            <a:ext cx="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35240" y="4343400"/>
            <a:ext cx="1417320" cy="1325880"/>
          </a:xfrm>
          <a:prstGeom prst="ellipse">
            <a:avLst/>
          </a:prstGeom>
          <a:solidFill>
            <a:srgbClr val="2CA02C">
              <a:alpha val="2000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81160" y="4526280"/>
            <a:ext cx="1234440" cy="1143000"/>
          </a:xfrm>
          <a:prstGeom prst="ellipse">
            <a:avLst/>
          </a:prstGeom>
          <a:solidFill>
            <a:srgbClr val="2CA02C">
              <a:alpha val="1400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86600" y="6172200"/>
            <a:ext cx="64008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26680" y="5760720"/>
            <a:ext cx="45720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83880" y="4754880"/>
            <a:ext cx="548640" cy="82296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32520" y="5577840"/>
            <a:ext cx="548640" cy="36576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81160" y="5943600"/>
            <a:ext cx="54864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29800" y="5029200"/>
            <a:ext cx="548640" cy="73152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78440" y="5760720"/>
            <a:ext cx="548640" cy="41148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5360" y="4617720"/>
            <a:ext cx="146304" cy="146304"/>
          </a:xfrm>
          <a:prstGeom prst="ellipse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MAPはここ（点）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学習・評価：複数指標で“形状として良いか”を判定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Vn誤差だけでなく、断面輪郭・KPI・時系列安定性も評価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85216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評価指標（用途別）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828800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10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37360"/>
            <a:ext cx="1828800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810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1828800" cy="45720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810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1945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2677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学習（局所）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21945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2677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 MAE / Huber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21945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22677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閉包の当て具合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26517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27249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形状（断面）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06040" y="26517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27249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輪郭差 / CD@高さ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6517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27249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最終形状の一致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31089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1821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06040" y="31089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9192" y="31821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ΔCD/Δtの安定性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31089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31821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ロールアウト破綻検知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35661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36393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06040" y="35661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9192" y="36393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SEM特徴の誤差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34840" y="35661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7992" y="36393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同定・吸収の達成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4389120"/>
            <a:ext cx="5486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86968" y="4498848"/>
            <a:ext cx="5266944" cy="192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実装上のポイント：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・Validation/Testで“断面輪郭画像”を自動出力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・学習曲線（loss/metric）を保存し、比較可能に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・OOD検知/不確かさ（後段拡張）に接続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83680" y="1234440"/>
            <a:ext cx="502920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学習曲線・KPI例（イメージ）</a:t>
            </a:r>
            <a:endParaRPr lang="en-US" sz="1400" dirty="0"/>
          </a:p>
        </p:txBody>
      </p:sp>
      <p:graphicFrame>
        <p:nvGraphicFramePr>
          <p:cNvPr id="41" name="Chart 0"/>
          <p:cNvGraphicFramePr/>
          <p:nvPr/>
        </p:nvGraphicFramePr>
        <p:xfrm>
          <a:off x="6766560" y="1737360"/>
          <a:ext cx="46634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" name="Chart 1"/>
          <p:cNvGraphicFramePr/>
          <p:nvPr/>
        </p:nvGraphicFramePr>
        <p:xfrm>
          <a:off x="6766560" y="4160520"/>
          <a:ext cx="46634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Validation/Test：横断面輪郭の比較（Pred vs GT/SEM）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数値だけでなく“形状としての差”を画像で確認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断面輪郭比較の出力（例）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783080"/>
            <a:ext cx="51663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GT / Sim（青） vs Pred（赤）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8745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SEM輪郭（黒） vs Pred（赤）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25880" y="5715000"/>
            <a:ext cx="44805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331720"/>
            <a:ext cx="0" cy="338328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4983480"/>
            <a:ext cx="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3154680"/>
            <a:ext cx="10972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3154680"/>
            <a:ext cx="182880" cy="54864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703320"/>
            <a:ext cx="10058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3703320"/>
            <a:ext cx="182880" cy="12801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983480"/>
            <a:ext cx="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3200400"/>
            <a:ext cx="100584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200400"/>
            <a:ext cx="182880" cy="59436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3794760"/>
            <a:ext cx="100584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3794760"/>
            <a:ext cx="182880" cy="11887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5715000"/>
            <a:ext cx="42519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331720"/>
            <a:ext cx="0" cy="338328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4983480"/>
            <a:ext cx="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3154680"/>
            <a:ext cx="10972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200" y="3154680"/>
            <a:ext cx="182880" cy="54864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1080" y="3703320"/>
            <a:ext cx="10058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3703320"/>
            <a:ext cx="182880" cy="12801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4983480"/>
            <a:ext cx="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200400"/>
            <a:ext cx="100584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200400"/>
            <a:ext cx="182880" cy="59436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3794760"/>
            <a:ext cx="100584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3794760"/>
            <a:ext cx="182880" cy="118872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4983480"/>
            <a:ext cx="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60920" y="3154680"/>
            <a:ext cx="10972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3154680"/>
            <a:ext cx="182880" cy="5943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41080" y="3749040"/>
            <a:ext cx="10058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3749040"/>
            <a:ext cx="182880" cy="12344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" y="566928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5897880"/>
            <a:ext cx="548640" cy="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5779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GT/Sim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88920" y="5897880"/>
            <a:ext cx="548640" cy="0"/>
          </a:xfrm>
          <a:prstGeom prst="line">
            <a:avLst/>
          </a:prstGeom>
          <a:noFill/>
          <a:ln w="38100">
            <a:solidFill>
              <a:srgbClr val="D627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5779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60520" y="5897880"/>
            <a:ext cx="54864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5779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46520" y="5669280"/>
            <a:ext cx="5166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56248" y="5779008"/>
            <a:ext cx="494690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チェック観点：CD@高さ / sidewall角 / bottom形状 / 微小R（丸み）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用途別フロー：学習／推論／同定／探索（何が違うか）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同じ部品を組み替えて運用する（パイプライン実行）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4つの代表フロー（スイムレーン）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10789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47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学習（Simのみ）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0789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90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推論（単条件）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10789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33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同定（SEM→z）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166360"/>
            <a:ext cx="10789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276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探索（多条件/最適化）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1920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35808" y="2029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4920" y="1920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84648" y="2029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Vn教師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2194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23760" y="1920240"/>
            <a:ext cx="1828800" cy="54864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33488" y="2029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Teacher/Student学習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560" y="2194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72600" y="1920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82328" y="2029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3063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035808" y="3172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337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74920" y="3063240"/>
            <a:ext cx="1828800" cy="54864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84648" y="3172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Vn予測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3337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223760" y="3063240"/>
            <a:ext cx="1828800" cy="54864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33488" y="3172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LS更新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52560" y="3337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72600" y="3063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82328" y="3172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時系列出力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4206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035808" y="4315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4480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4920" y="4206240"/>
            <a:ext cx="1828800" cy="548640"/>
          </a:xfrm>
          <a:prstGeom prst="roundRect">
            <a:avLst/>
          </a:prstGeom>
          <a:solidFill>
            <a:srgbClr val="FF7F0E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84648" y="4315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z同定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03720" y="4480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23760" y="4206240"/>
            <a:ext cx="1828800" cy="54864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33488" y="4315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推論(再計算)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052560" y="4480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372600" y="4206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482328" y="4315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一致度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26080" y="5349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035808" y="5458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条件生成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54880" y="5623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074920" y="5349240"/>
            <a:ext cx="1828800" cy="54864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184648" y="5458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バッチ推論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5623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223760" y="53492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33488" y="5458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KPI集計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052560" y="5623560"/>
            <a:ext cx="3200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372600" y="5349240"/>
            <a:ext cx="1828800" cy="54864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482328" y="54589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最良条件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68680" y="63550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共通部品：SDF化 / narrow band / Vn閉包 / LS更新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用途別：形状表現・学習手法・関連技術（まとめテーブル）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何を使うか／なぜ使うかを一枚で俯瞰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実装の“部品表”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2121408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647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8648" y="1691640"/>
            <a:ext cx="2121408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7647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形状表現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0056" y="1691640"/>
            <a:ext cx="2121408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7647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学習手法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41464" y="1691640"/>
            <a:ext cx="2121408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17647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関連技術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62872" y="1691640"/>
            <a:ext cx="2121408" cy="502920"/>
          </a:xfrm>
          <a:prstGeom prst="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6024" y="17647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課題への効き方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219456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26771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学習データ生成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98648" y="219456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26771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voxel→SDF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0056" y="219456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226771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Vn教師（差分）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41464" y="219456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14616" y="226771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band抽出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62872" y="219456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6024" y="226771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run数を抑えつつ教師を大量化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269748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277063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推論（高速）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98648" y="269748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77063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SDF（φ）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0056" y="269748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277063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Sparse CNN（Vn）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41464" y="269748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14616" y="277063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レベルセット更新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62872" y="269748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36024" y="277063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連続性/位相変化を安定に出力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320040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327355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内部影響の取込み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98648" y="320040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27355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+ ログ特徴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0056" y="320040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93208" y="327355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Teacher–Student蒸留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41464" y="320040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14616" y="327355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特権情報（内部ログ）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262872" y="320040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36024" y="327355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反射/再入射を学習に反映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7240" y="370332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377647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実測吸収（同定）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898648" y="370332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71800" y="377647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断面/特徴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0056" y="370332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93208" y="377647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/ SBI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41464" y="370332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14616" y="377647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 z, 事前分布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262872" y="370332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36024" y="377647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少数SEMでも合わせ込み可能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77240" y="420624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0392" y="42793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探索（任意）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898648" y="420624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71800" y="42793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0056" y="420624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93208" y="42793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BO/MFBO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41464" y="420624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14616" y="42793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UQ/OOD検知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262872" y="420624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36024" y="4279392"/>
            <a:ext cx="19751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条件探索を少試行で加速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77240" y="4892040"/>
            <a:ext cx="10607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49651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過去課題（voxel直学習）→ 本実装での改善点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1005840" y="534924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115568" y="5458968"/>
            <a:ext cx="45354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Before：voxel U-Net/RNN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・入力が多い→データ爆増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・連続性/長期ロールアウトで破綻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・実測吸収が難しい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806440" y="5897880"/>
            <a:ext cx="411480" cy="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309360" y="5349240"/>
            <a:ext cx="4937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419088" y="5458968"/>
            <a:ext cx="471830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After：Vn閉包 + SDF/LS + 蒸留 + 同定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・局所教師でデータ効率↑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・連続性/位相変化を幾何更新が担保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・潜在zで実測吸収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まとめ：この実装が提供する価値（管理者向け要点）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高速化・同定・安定性を同時に取りにいく設計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5394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8470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31720" y="18745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MC（2h+）を学習データ生成に限定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運用はSDF narrow band + Sparse CNN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5394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8470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0" y="18745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形状連続性/位相変化は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レベルセット更新が担保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5394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F0E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493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実測吸収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520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未知は潜在zに集約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SEM特徴でMAP/SBI同定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3383280"/>
            <a:ext cx="53949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2728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3493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内部影響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3520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反射/再入射などは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Teacher–Student蒸留で取り込み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074920"/>
            <a:ext cx="10972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389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次の拡張（例）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5532120"/>
            <a:ext cx="3108960" cy="7772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61288" y="5641848"/>
            <a:ext cx="288950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多忠実度 + 能動学習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（HFを最小化）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5532120"/>
            <a:ext cx="3108960" cy="7772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44568" y="5641848"/>
            <a:ext cx="288950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非局所強化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（反射カーネル/attention）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5532120"/>
            <a:ext cx="3886200" cy="7772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9D9D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27848" y="5641848"/>
            <a:ext cx="366674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観測モデル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（SEM画像損失/微分可能レンダ）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2708</Words>
  <Application>Microsoft Macintosh PowerPoint</Application>
  <PresentationFormat>ワイド画面</PresentationFormat>
  <Paragraphs>474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kawahito</cp:lastModifiedBy>
  <cp:revision>2</cp:revision>
  <dcterms:created xsi:type="dcterms:W3CDTF">2026-02-15T02:27:39Z</dcterms:created>
  <dcterms:modified xsi:type="dcterms:W3CDTF">2026-02-17T00:06:47Z</dcterms:modified>
</cp:coreProperties>
</file>