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1条件あたり計算時間（概念図）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HF MC 3D</c:v>
                </c:pt>
                <c:pt idx="1">
                  <c:v>サロゲート</c:v>
                </c:pt>
                <c:pt idx="2">
                  <c:v>可視化/評価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5-3345-8F1D-393CDE6EF7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edge数（概念）</c:v>
                </c:pt>
              </c:strCache>
            </c:strRef>
          </c:tx>
          <c:spPr>
            <a:solidFill>
              <a:srgbClr val="D6272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全結合attention</c:v>
                </c:pt>
                <c:pt idx="1">
                  <c:v>疎attention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6C-9746-82B6-AD9964CDD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単峰（例）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6.1342674613706167E-4</c:v>
                </c:pt>
                <c:pt idx="1">
                  <c:v>8.7936288796848679E-3</c:v>
                </c:pt>
                <c:pt idx="2">
                  <c:v>6.9758089013081559E-2</c:v>
                </c:pt>
                <c:pt idx="3">
                  <c:v>0.30622598005804241</c:v>
                </c:pt>
                <c:pt idx="4">
                  <c:v>0.7438930621376465</c:v>
                </c:pt>
                <c:pt idx="5">
                  <c:v>1</c:v>
                </c:pt>
                <c:pt idx="6">
                  <c:v>0.7438930621376465</c:v>
                </c:pt>
                <c:pt idx="7">
                  <c:v>0.30622598005804241</c:v>
                </c:pt>
                <c:pt idx="8">
                  <c:v>6.9758089013081559E-2</c:v>
                </c:pt>
                <c:pt idx="9">
                  <c:v>8.7936288796848679E-3</c:v>
                </c:pt>
                <c:pt idx="10">
                  <c:v>6.1342674613706167E-4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C1-194C-B523-954ADB91C0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多峰（例）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1.3486249963856876E-3</c:v>
                </c:pt>
                <c:pt idx="1">
                  <c:v>3.7804150022115103E-2</c:v>
                </c:pt>
                <c:pt idx="2">
                  <c:v>0.30833421824842772</c:v>
                </c:pt>
                <c:pt idx="3">
                  <c:v>0.73170880421845053</c:v>
                </c:pt>
                <c:pt idx="4">
                  <c:v>0.50541334595389154</c:v>
                </c:pt>
                <c:pt idx="5">
                  <c:v>0.11403826191344636</c:v>
                </c:pt>
                <c:pt idx="6">
                  <c:v>0.18449207684754007</c:v>
                </c:pt>
                <c:pt idx="7">
                  <c:v>0.53317919090029953</c:v>
                </c:pt>
                <c:pt idx="8">
                  <c:v>0.33359236221905875</c:v>
                </c:pt>
                <c:pt idx="9">
                  <c:v>4.3757730514058048E-2</c:v>
                </c:pt>
                <c:pt idx="10">
                  <c:v>1.2031201153018224E-3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C1-194C-B523-954ADB91C0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4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ViennaPSのレベルセット+MCレイトレーシング統合の説明: https://www.sciencedirect.com/science/article/pii/S2352711025004194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Level set / Fast marching 解説（MIT 18.086）: https://math.mit.edu/classes/18.086/2006/am57.pdf
- 半導体プロセスにおけるレベルセットの位置づけ（Sethian/Adalsteinsson）: https://math.berkeley.edu/~sethian/2006/Papers/sethian.vmic.june.1996.pdf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DRIE: narrow band level set + Monte Carlo（Micromachines 2018）: https://www.mdpi.com/2072-666X/9/2/74
- Etching/Deposition modeling with level set（Sethian/Adalsteinsson）: https://math.berkeley.edu/~sethian/2006/Papers/sethian.vmic.june.1996.pdf
- ViennaPS（レベルセット+H-RLE、MCレイトレーシング）: https://www.sciencedirect.com/science/article/pii/S2352711025004194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Marching Cubes（Lorensen &amp; Cline 1987）: https://www.cs.toronto.edu/~jacobson/seminar/lorenson-and-cline-1987.pdf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可視性推定をSDFの距離意味で高速化（L-Tracing, ECCV 2022）: https://www.ecva.net/papers/eccv_2022/papers_ECCV/papers/136750214.pdf
- MCレイトレーシングでview factor相関を学習（例）: https://arxiv.org/pdf/2304.02707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Graphormer（NeurIPS 2021 / arXiv 2106.05234）: https://arxiv.org/abs/2106.05234
- Point Transformer（ICCV 2021）: https://openaccess.thecvf.com/content/ICCV2021/papers/Zhao_Point_Transformer_ICCV_2021_paper.pdf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Graphormer（Transformerをグラフへ適用する際の構造エンコードの重要性）: https://arxiv.org/abs/2106.05234
- Point Transformer（点群向け注意機構の設計例）: https://openaccess.thecvf.com/content/ICCV2021/papers/Zhao_Point_Transformer_ICCV_2021_paper.pdf
- MeshGraphNets（メッシュ/グラフ上での物理ダイナミクス学習）: https://arxiv.org/abs/2010.03409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Learning Using Privileged Information（Vapnik, JMLR 2015）: https://jmlr.org/papers/volume16/vapnik15b/vapnik15b.pdf
- Knowledge Distillation（Hinton et al., 2015）: https://arxiv.org/abs/1503.02531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sbi reloaded（JOSS 2025）: https://joss.theoj.org/papers/10.21105/joss.07754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ViennaPS（レベルセット+H-RLE、MCレイトレーシング）: https://www.sciencedirect.com/science/article/pii/S2352711025004194
- Graphormer: https://arxiv.org/abs/2106.05234
- Point Transformer: https://openaccess.thecvf.com/content/ICCV2021/papers/Zhao_Point_Transformer_ICCV_2021_paper.pdf
- sbi reloaded: https://joss.theoj.org/papers/10.21105/joss.07754
- Marching Cubes: https://www.cs.toronto.edu/~jacobson/seminar/lorenson-and-cline-1987.pdf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形状シミュレーションサロゲート（2位案）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 Graph Transformer + 非局所結合 + SDF（レベルセット）更新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2090867" cy="73152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MC/voxel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93787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76667" y="3017520"/>
            <a:ext cx="2090867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6395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67534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50414" y="3017520"/>
            <a:ext cx="2090867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0142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41281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24161" y="3017520"/>
            <a:ext cx="2090867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3889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15028" y="3383280"/>
            <a:ext cx="18288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97908" y="3017520"/>
            <a:ext cx="2090867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7636" y="3063240"/>
            <a:ext cx="18714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対象：MC粒子フラックス×voxel表面の3D形状シミュレーションを高速代替し、SEMで未知パラメータを同定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© Project: 形状シミュレーション — Manager-ready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背景：現状の高忠実度シミュレーションと課題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MC（粒子）×voxel（表面）で物理は豊富だが、探索・同定に時間が掛かる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現状（MC/voxel）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2011680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002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フラックス：粒子MC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2011680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表面：voxel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2011680" cy="5943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97180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反応：エッチ/デポ/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スパッタ/反射/拡散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011680" cy="5943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0332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出力：時間発展→最終形状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508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課題（プロジェクト与件）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1874520"/>
            <a:ext cx="3063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3D計算：1条件あたり2時間以上＋メモリ重い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入力変数が多く、学習データが膨大になりがち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実測は主にSEM最終形状のみ→不足物理が特定しづらい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装置ノブと形状が直結しない（探索・同定が難しい）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過去：1万条件規模の学習でも運用コスト高・実測再現困難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サロゲートに求めること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15544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733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高速推論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27668" y="15544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7668" y="16733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時間発展出力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75120" y="22402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591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形状連続性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227668" y="22402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7668" y="23591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少データ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5120" y="29260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0449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SEM吸収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227668" y="2926080"/>
            <a:ext cx="2278228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27668" y="3044952"/>
            <a:ext cx="2278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原因分解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75120" y="3840480"/>
            <a:ext cx="4830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体積を直接学習せず、表面＋非局所性を効率よく表現する設計が有効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本コード（サロゲート）なしの場合の課題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探索・同定・条件スイープが高忠実度MCに縛られ、意思決定が遅れる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意思決定ループの遅延（例）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68680" y="178308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4892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※MCは「2時間以上」がボトルネック。サロゲートは分オーダーを狙う。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起きること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164592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装置条件の探索（レシピ探索）が遅い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SEMに合うパラメータ同定が回せない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条件数が増えず、原因切り分けが進まない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学習データ作成に計算資源が固定化される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75120" y="3886200"/>
            <a:ext cx="5013655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84848" y="3931920"/>
            <a:ext cx="47941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（遅い） 予測 → 実験/SEM → 調整 → 再計算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4572000"/>
            <a:ext cx="4647895" cy="1463040"/>
          </a:xfrm>
          <a:prstGeom prst="arc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5897880"/>
            <a:ext cx="5013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27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MCが律速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提案：表面中心サロゲートの全体像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表面Graph TransformerでVnを推定し、SDF（レベルセット）で形状を安定更新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054291" cy="91440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MC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(voxel+粒子)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57211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5811" y="1371600"/>
            <a:ext cx="2054291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539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φ(x,t)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0102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68702" y="1371600"/>
            <a:ext cx="2054291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8430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mesh/points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22993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51593" y="1371600"/>
            <a:ext cx="2054291" cy="9144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321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05884" y="18288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34484" y="1371600"/>
            <a:ext cx="2054291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44212" y="1417320"/>
            <a:ext cx="18348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(level-set)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11185855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65176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学習・推論・同定（高速ループ）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2926080"/>
            <a:ext cx="27432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97180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(pos, normal, κ, vis)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926080"/>
            <a:ext cx="292608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297180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Vn予測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(Graph Transformer)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2926080"/>
            <a:ext cx="310896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297180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φ←φ-dt·Vn|∇φ|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20440" y="3227832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66560" y="3227832"/>
            <a:ext cx="3657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3520440"/>
            <a:ext cx="0" cy="7772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4297680"/>
            <a:ext cx="51663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429768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7033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繰り返し（時間発展）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4892040"/>
            <a:ext cx="36576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4937760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実測SEM→特徴抽出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(CD/角度/曲率...)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4892040"/>
            <a:ext cx="32918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493776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 z 同定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(MAP / SBI)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4892040"/>
            <a:ext cx="1920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49377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z固定で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34840" y="5193792"/>
            <a:ext cx="32004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46720" y="5193792"/>
            <a:ext cx="27432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21040" y="5669280"/>
            <a:ext cx="19202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57150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断面/3D/指標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81160" y="5486400"/>
            <a:ext cx="0" cy="18288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 → 表面データ化の効果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 O(N^3) から表面 O(N^2) へ：計算・メモリのスケール則を変える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概念図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69164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5740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42316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8892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15468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691640"/>
            <a:ext cx="0" cy="21945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20440"/>
            <a:ext cx="2194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05740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315468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788920"/>
            <a:ext cx="365760" cy="365760"/>
          </a:xfrm>
          <a:prstGeom prst="rect">
            <a:avLst/>
          </a:prstGeom>
          <a:solidFill>
            <a:srgbClr val="C7E7FF"/>
          </a:solidFill>
          <a:ln w="12700">
            <a:solidFill>
              <a:srgbClr val="C7E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Voxel（体積）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計算点 ~ N³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4760" y="1691640"/>
            <a:ext cx="2194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1965960"/>
            <a:ext cx="1828800" cy="0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2286000"/>
            <a:ext cx="1828800" cy="0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77640" y="2606040"/>
            <a:ext cx="1828800" cy="0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926080"/>
            <a:ext cx="1828800" cy="0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3246120"/>
            <a:ext cx="1828800" cy="0"/>
          </a:xfrm>
          <a:prstGeom prst="line">
            <a:avLst/>
          </a:prstGeom>
          <a:noFill/>
          <a:ln w="25400">
            <a:solidFill>
              <a:srgbClr val="9CD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1920240"/>
            <a:ext cx="822960" cy="1737360"/>
          </a:xfrm>
          <a:prstGeom prst="line">
            <a:avLst/>
          </a:prstGeom>
          <a:noFill/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4023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表面（mesh/点群）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計算点 ~ N²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29000" y="2788920"/>
            <a:ext cx="9144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42900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実務上の効果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75120" y="1691640"/>
            <a:ext cx="1604370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1737360"/>
            <a:ext cx="14946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79490" y="1691640"/>
            <a:ext cx="340928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4354" y="1737360"/>
            <a:ext cx="32995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表面中心の利点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039112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2084832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計算/メモリ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79490" y="2039112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4354" y="2084832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体積(N³)→表面(N²)。エッジ数でさらに制御。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2810866"/>
            <a:ext cx="1604370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2856586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79490" y="2810866"/>
            <a:ext cx="3409286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34354" y="2856586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反射・遮蔽を「表面点間結合」として表現しやすい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675120" y="3582619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9984" y="3628339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微細丸み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279490" y="3582619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34354" y="3628339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法線・曲率を直接特徴にできる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0" y="4354373"/>
            <a:ext cx="1604370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29984" y="4400093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学習データ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79490" y="4354373"/>
            <a:ext cx="3409286" cy="77175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4354" y="4400093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表面パッチで大量サンプル化しやすい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5126126"/>
            <a:ext cx="1604370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5171846"/>
            <a:ext cx="1494642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79490" y="5126126"/>
            <a:ext cx="3409286" cy="77175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34354" y="5171846"/>
            <a:ext cx="3299558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SDF更新で位相変化・自己交差を回避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75120" y="5989320"/>
            <a:ext cx="5013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※更新の安定性はSDF（レベルセット）が担保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SDF（Signed Distance Field）を“更新基盤”にする理由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表面モデルの弱点（自己交差・位相変化・再メッシュ）をSDF更新で解決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SDFの直感（2D断面イメージ）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64592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4206240"/>
            <a:ext cx="822960" cy="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3566160"/>
            <a:ext cx="822960" cy="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3200400"/>
            <a:ext cx="822960" cy="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3017520"/>
            <a:ext cx="914400" cy="9144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3108960"/>
            <a:ext cx="914400" cy="365760"/>
          </a:xfrm>
          <a:prstGeom prst="line">
            <a:avLst/>
          </a:prstGeom>
          <a:noFill/>
          <a:ln w="508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4041648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4370832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3401568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730752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3035808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3364992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852928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182112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2944368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273552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877056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4535424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3236976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31720" y="3895344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871216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529584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2688336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3346704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2779776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438144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3712464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4700016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3072384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31720" y="4059936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2706624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3694176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2523744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77640" y="3511296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615184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3602736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08760" y="3547872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08760" y="4864608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0" y="2907792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4224528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2542032"/>
            <a:ext cx="822960" cy="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54680" y="3858768"/>
            <a:ext cx="822960" cy="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77640" y="2359152"/>
            <a:ext cx="914400" cy="9144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77640" y="3675888"/>
            <a:ext cx="914400" cy="9144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2450592"/>
            <a:ext cx="914400" cy="365760"/>
          </a:xfrm>
          <a:prstGeom prst="line">
            <a:avLst/>
          </a:prstGeom>
          <a:noFill/>
          <a:ln w="12700">
            <a:solidFill>
              <a:srgbClr val="DCE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92040" y="3767328"/>
            <a:ext cx="914400" cy="365760"/>
          </a:xfrm>
          <a:prstGeom prst="line">
            <a:avLst/>
          </a:prstGeom>
          <a:noFill/>
          <a:ln w="12700">
            <a:solidFill>
              <a:srgbClr val="E7F6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44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φ=0（界面）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834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φ&gt;0（外側）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8348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φ&lt;0（内側）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43000" y="5166360"/>
            <a:ext cx="539496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52728" y="5212080"/>
            <a:ext cx="5175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更新：  φ(t+Δt)=φ(t)−Δt·Vn·|∇φ|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（Vnは表面モデルが推定）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SDF更新が解決すること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675120" y="1645920"/>
            <a:ext cx="5013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表面点を直接動かすと起きる「自己交差」や「再メッシュ問題」を回避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位相変化（穴が開く/塞がる）にも強い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断面・等値面（φ=0）で常に可視化可能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bandで計算を表面近傍に限定できる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751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SDF維持（再距離化）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675120" y="484632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9984" y="489204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429899" y="4846320"/>
            <a:ext cx="325887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84763" y="4892040"/>
            <a:ext cx="3149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675120" y="5193792"/>
            <a:ext cx="1754779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9984" y="5239512"/>
            <a:ext cx="1645051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 marching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429899" y="5193792"/>
            <a:ext cx="325887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484763" y="5239512"/>
            <a:ext cx="314914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高速・安定。narrow bandで部分再距離化も可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675120" y="5591556"/>
            <a:ext cx="1754779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9984" y="5637276"/>
            <a:ext cx="1645051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PDE再初期化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429899" y="5591556"/>
            <a:ext cx="3258876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84763" y="5637276"/>
            <a:ext cx="3149148" cy="306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高精度だが重い（必要時のみ）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SDF系の手法を分解（実装観点）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voxel→SDF→narrow band→表面抽出→SDF更新→再距離化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SDF処理パイプライン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567129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(材料/空隙)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0089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18689" y="1691640"/>
            <a:ext cx="1567129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8417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距離変換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(in/out)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5818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14418" y="1691640"/>
            <a:ext cx="1567129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4146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符号付け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1548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0148" y="1691640"/>
            <a:ext cx="1567129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9876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|φ|&lt;w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7277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05877" y="1691640"/>
            <a:ext cx="1567129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605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MCubes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006" y="210312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01606" y="1691640"/>
            <a:ext cx="1567129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11334" y="1737360"/>
            <a:ext cx="13476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(必要時)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2834640"/>
            <a:ext cx="58978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292608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 の狙い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29718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φ=0の近傍だけに計算資源を集中（表面近傍シェル）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338328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931920"/>
            <a:ext cx="1554480" cy="11887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3794760"/>
            <a:ext cx="1828800" cy="1463040"/>
          </a:xfrm>
          <a:prstGeom prst="ellipse">
            <a:avLst/>
          </a:prstGeom>
          <a:solidFill>
            <a:srgbClr val="C7E7FF">
              <a:alpha val="40000"/>
            </a:srgbClr>
          </a:solidFill>
          <a:ln w="12700">
            <a:solidFill>
              <a:srgbClr val="C7E7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5303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|φ|&lt;w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8620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格子全体(N³)ではなく、薄い殻のみを保持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表面抽出・可視化・更新が安定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再距離化は数ステップごとに実施（必要な範囲だけ）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2834640"/>
            <a:ext cx="4785055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86600" y="2926080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半導体プロセスでの実績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3063240"/>
            <a:ext cx="460217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DRIEで narrow band level set + Monte Carlo による3D形状シミュレーション例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レベルセットはエッチ/デポの界面追跡で古典的に確立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ViennaPS：高性能レベルセット（H-RLE）＋必要に応じてMCレイトレーシング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表面抽出とサンプリング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SDFからメッシュ/点群へ（Marching Cubes）→ 学習しやすい点群へ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→ mesh/points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173736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(格子)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783080"/>
            <a:ext cx="192024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8288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Marching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Cubes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1783080"/>
            <a:ext cx="1737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7528" y="18288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(三角形)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103120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2103120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2697480"/>
            <a:ext cx="1188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697480"/>
            <a:ext cx="118872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697480"/>
            <a:ext cx="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697480"/>
            <a:ext cx="0" cy="100584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200400"/>
            <a:ext cx="1188720" cy="0"/>
          </a:xfrm>
          <a:prstGeom prst="line">
            <a:avLst/>
          </a:prstGeom>
          <a:noFill/>
          <a:ln w="12700">
            <a:solidFill>
              <a:srgbClr val="9CD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三角形分割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3154680"/>
            <a:ext cx="192024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20040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423160"/>
            <a:ext cx="0" cy="73152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29000" y="34290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23944" y="364845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5112" y="366674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81144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37176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38344" y="364845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94376" y="366674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361188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1576" y="363016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0168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86200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87368" y="402336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404164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9432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56632" y="402336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12664" y="404164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13832" y="405993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9864" y="407822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48456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9624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05656" y="447141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61688" y="448970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62856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18888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447141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76088" y="448970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443484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8152" y="445312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67912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484632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25112" y="486460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81144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37176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38344" y="4846320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94376" y="4864608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50408" y="4882896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51576" y="4901184"/>
            <a:ext cx="54864" cy="54864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5394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点群入力（N点）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サンプリング方針（実務）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675120" y="169164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9984" y="173736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429899" y="1691640"/>
            <a:ext cx="325887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84763" y="1737360"/>
            <a:ext cx="3149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675120" y="2039112"/>
            <a:ext cx="1754779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29984" y="2084832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重要部を高密度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429899" y="2039112"/>
            <a:ext cx="325887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84763" y="2084832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底/肩/マスク近傍の精度を優先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675120" y="3072384"/>
            <a:ext cx="1754779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9984" y="3118104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パッチ学習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429899" y="3072384"/>
            <a:ext cx="3258876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84763" y="3118104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Nを固定して学習安定化（例: 2万点/step）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75120" y="4105656"/>
            <a:ext cx="1754779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9984" y="4151376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表面正則化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429899" y="4105656"/>
            <a:ext cx="325887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84763" y="4151376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法線/曲率のノイズを抑える軽い平滑化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675120" y="5138928"/>
            <a:ext cx="1754779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29984" y="5184648"/>
            <a:ext cx="1645051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時刻正規化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429899" y="5138928"/>
            <a:ext cx="3258876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84763" y="5184648"/>
            <a:ext cx="314914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Δtは「進行量一定（nm/step）」で安定化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67512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Marching Cubesは等値面（三角形メッシュ）生成の代表的手法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表面特徴量（入力）設計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局所幾何 + プロセス条件 +（任意）可視性/遮蔽特徴で内部影響を取り込む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ノード特徴（点ごと）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30576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11960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8723" y="1691640"/>
            <a:ext cx="2067458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3587" y="1737360"/>
            <a:ext cx="19577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96182" y="1691640"/>
            <a:ext cx="2067458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046" y="1737360"/>
            <a:ext cx="19577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1305763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28723" y="2039112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3587" y="2084832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pos, normal n, curvature 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96182" y="2039112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046" y="2084832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丸み/テーパ/局所角を表現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072384"/>
            <a:ext cx="1305763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118104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材料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28723" y="3072384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3587" y="3118104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material_id / mask_id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96182" y="3072384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046" y="3118104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反応・移動制約の差を表現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105656"/>
            <a:ext cx="1305763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151376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28723" y="4105656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83587" y="4151376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遮蔽率, 開口角, 平均自由行程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96182" y="4105656"/>
            <a:ext cx="206745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046" y="4151376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shadowing/到達性を近似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5138928"/>
            <a:ext cx="1305763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184648"/>
            <a:ext cx="1196035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状態(任意)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28723" y="5138928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3587" y="5184648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被覆率/ポリマー厚（潜在）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96182" y="5138928"/>
            <a:ext cx="2067458" cy="10332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046" y="5184648"/>
            <a:ext cx="195773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履歴効果を表面状態として保持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5577840"/>
            <a:ext cx="544068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5623560"/>
            <a:ext cx="5221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ポイント：非局所性は「入力（可視性特徴）」＋「非局所エッジ」で二段構え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条件（global）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75120" y="1691640"/>
            <a:ext cx="501365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レシピ要約 c：圧力/RF/温度/ガス比など（上位ノブ）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 z：測れないフラックス/反応を低次元に集約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zはSEMから同定（MAP/SBI）し、推論ループへ注入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66560" y="3977640"/>
            <a:ext cx="2011680" cy="6858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402336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c（ノブ）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961120" y="3977640"/>
            <a:ext cx="2011680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70848" y="402336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z（潜在）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4709160"/>
            <a:ext cx="91440" cy="54864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966960" y="4709160"/>
            <a:ext cx="0" cy="54864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863840" y="5257800"/>
            <a:ext cx="310896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73568" y="530352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（注意：条件注入）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非局所結合（内部影響）の入れ方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遮蔽・反射・再入射を「表面点間結合」として表現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3つの実装オプション（推奨順）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2CA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A) 可視性エッジ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（SDFレイキャスト）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0018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7048" y="3575304"/>
            <a:ext cx="197297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43000" y="2514600"/>
            <a:ext cx="2722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A0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点p→方向サンプル→最初に当たる点qを結ぶ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遮蔽構造に近い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エッジ数を制御しやすい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14418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14418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5858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B) view-factor近似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43018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08778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1477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445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Kij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45938" y="2606040"/>
            <a:ext cx="502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94578" y="2606040"/>
            <a:ext cx="502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5938" y="3154680"/>
            <a:ext cx="5029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94578" y="3154680"/>
            <a:ext cx="50292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8506" y="3575304"/>
            <a:ext cx="197297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643018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面間結合係数Kijを近似/学習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反射寄与を係数化し解釈性が高い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近似設計が必要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5877" y="1691640"/>
            <a:ext cx="336285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5877" y="1691640"/>
            <a:ext cx="3362858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1F77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7317" y="1764792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C) Global token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34477" y="2423160"/>
            <a:ext cx="290565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00237" y="352044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82935" y="2971800"/>
            <a:ext cx="109728" cy="10972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4426" y="2926080"/>
            <a:ext cx="365760" cy="365760"/>
          </a:xfrm>
          <a:prstGeom prst="ellipse">
            <a:avLst/>
          </a:prstGeom>
          <a:solidFill>
            <a:srgbClr val="E0F2FE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4426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709965" y="3575304"/>
            <a:ext cx="977341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682935" y="3026664"/>
            <a:ext cx="0" cy="82296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234477" y="4023360"/>
            <a:ext cx="290565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非局所をグローバルトークンへ集約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実装が簡単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解釈性は弱い（簡易版）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非局所性は「入力特徴」でも補助しつつ、主に“エッジ”で表現するのが堅い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グラフ構築（local + nonlocal）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エッジ数を制御して計算量を破綻させない（疎attention）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構築手順（図）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7373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9293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9385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19476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9568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0008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19293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9776" y="19385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19476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9544" y="19568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192024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2728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3896" y="22860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2496" y="22951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1096" y="23042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12264" y="226771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0864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9464" y="22860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70632" y="22951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23042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7832" y="226771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22768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43584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2184" y="26426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73352" y="26517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1952" y="26151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30552" y="26243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6426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26517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90088" y="261518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18688" y="26243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288" y="26334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299923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91640" y="29626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2808" y="29718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21408" y="29809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0008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1176" y="299923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79776" y="296265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08376" y="297180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9544" y="298094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38144" y="299008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52728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53896" y="33101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82496" y="33192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11096" y="33284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12264" y="33375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40864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9464" y="3310128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70632" y="3319272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99232" y="3328416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27832" y="3337560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29000" y="3346704"/>
            <a:ext cx="45720" cy="45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表面点群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977640" y="1874520"/>
            <a:ext cx="256032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87368" y="192024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local: kNN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(k=16〜32)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977640" y="2651760"/>
            <a:ext cx="256032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87368" y="26974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nonlocal: visibility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(k=4〜16)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749040" y="2743200"/>
            <a:ext cx="22860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749040" y="2743200"/>
            <a:ext cx="228600" cy="210312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720840" y="22402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30568" y="2286000"/>
            <a:ext cx="1700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edge_attr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Δx, d, n·n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vis-score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537960" y="2148840"/>
            <a:ext cx="182880" cy="50292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537960" y="2953512"/>
            <a:ext cx="18288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headEnd type="none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1051560" y="41148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計算量の制御</a:t>
            </a:r>
            <a:endParaRPr lang="en-US" sz="1400" dirty="0"/>
          </a:p>
        </p:txBody>
      </p:sp>
      <p:graphicFrame>
        <p:nvGraphicFramePr>
          <p:cNvPr id="75" name="Chart 0"/>
          <p:cNvGraphicFramePr/>
          <p:nvPr/>
        </p:nvGraphicFramePr>
        <p:xfrm>
          <a:off x="1051560" y="4434840"/>
          <a:ext cx="52120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" name="Text 73"/>
          <p:cNvSpPr/>
          <p:nvPr/>
        </p:nvSpPr>
        <p:spPr>
          <a:xfrm>
            <a:off x="1051560" y="6035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全結合（O(N²)）は禁止。E= N·(k_local+k_nonlocal)に抑える。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関連技術（なぜTransformer）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6675120" y="1691640"/>
            <a:ext cx="50136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非局所影響：どの面から寄与が来るかが状況で変わる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注意機構：エッジ属性で重み付けしやすい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Graphormer：グラフ構造のエンコードが重要（Transformerの適用例）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 Transformer：点群に自己注意を適用する設計例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ネットワーク構成：Surface Graph Transformer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local/nonlocalエッジを使ったEdge-conditioned AttentionでVnを推定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アーキテクチャ（詳細図）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2286000" cy="777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9164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Node features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pos, n, κ, mat/mask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vis-feat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22860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974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 + nonlocal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2286000" cy="6858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520440"/>
            <a:ext cx="2066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 cond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recipe c + latent z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1645920"/>
            <a:ext cx="1828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169164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Node Encoder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(MLP)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029968"/>
            <a:ext cx="32004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1600200"/>
            <a:ext cx="2103120" cy="26974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F7F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Blocks × 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6168" y="233172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Edge-conditioned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06440" y="292608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297180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FFN + Norm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06440" y="3474720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16168" y="3520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 + Nonlocal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message mixing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2029968"/>
            <a:ext cx="228600" cy="896112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3822192"/>
            <a:ext cx="342900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39496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FiLM/concat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2286000"/>
            <a:ext cx="18288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331720"/>
            <a:ext cx="1609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(MLP)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2697480"/>
            <a:ext cx="5029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2286000"/>
            <a:ext cx="210312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96728" y="2331720"/>
            <a:ext cx="1883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 on surface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12680" y="2697480"/>
            <a:ext cx="27432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4400" y="4572000"/>
            <a:ext cx="1036289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60320" y="4709160"/>
            <a:ext cx="880841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全結合attentionではなく、local/nonlocalエッジによる疎attentionでスケールさせる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非局所エッジは「可視性（SDFレイ）」や「view-factor近似」で物理寄りに設計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 Vn を成分分解（etch/depo/sputter…）して原因分析に活用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学習ターゲット：表面法線速度 Vn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SDFの時刻差分から教師ラベルを作り、表面で学ぶ（データ効率を最大化）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教師生成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1737360"/>
            <a:ext cx="237744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78308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φ(t)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03320" y="1737360"/>
            <a:ext cx="237744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78308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φ(t+Δt)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格子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51560" y="2834640"/>
            <a:ext cx="502920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80360"/>
            <a:ext cx="48097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 p（φ=0）で補間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Vn(p) ≈ (φ(t,p)−φ(t+Δt,p)) / (Δt·|∇φ(t,p)|)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749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φ(t,p)=0 なので  Vn(p) ≈ −φ(t+Δt,p)/Δt  としても扱える（符号規約に注意）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443484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5394960"/>
            <a:ext cx="3657600" cy="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5486400"/>
            <a:ext cx="3657600" cy="0"/>
          </a:xfrm>
          <a:prstGeom prst="line">
            <a:avLst/>
          </a:prstGeom>
          <a:noFill/>
          <a:ln w="38100">
            <a:solidFill>
              <a:srgbClr val="FF7F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5120640"/>
            <a:ext cx="0" cy="32004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02336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界面移動量 → Vn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t+Δt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なぜVnが良い？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69164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複雑なMC物理を「形状進化に必要な閉包」として吸収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run から表面点×時間の大量教師が取れる → 少runで学習しやすい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更新はSDF（幾何エンジン）に任せ、ロールアウト破綻を抑える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3840480"/>
            <a:ext cx="180491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3886200"/>
            <a:ext cx="16951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学習ターゲット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80036" y="3840480"/>
            <a:ext cx="320873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4900" y="3886200"/>
            <a:ext cx="309901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187952"/>
            <a:ext cx="1804916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4233672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voxel直接予測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80036" y="4187952"/>
            <a:ext cx="3208739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4900" y="4233672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3Dで重い／誤差蓄積で破綻しやすい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818888"/>
            <a:ext cx="1804916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4864608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Vn（表面）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80036" y="4818888"/>
            <a:ext cx="3208739" cy="6309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4900" y="4864608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閉包として学ぶ／更新はSDFが担保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5449824"/>
            <a:ext cx="1804916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9984" y="5495544"/>
            <a:ext cx="169518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係数場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80036" y="5449824"/>
            <a:ext cx="3208739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4900" y="5495544"/>
            <a:ext cx="3099011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解釈性↑だが設計コスト↑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（任意だが強力）Teacher–Student蒸留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学習時のみMC内部ログを使い、運用時は表面データのみで内部影響を反映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蒸留の構造（LUPI / Knowledge Distillation）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2926080" cy="64008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830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Teacher入力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 + レシピ + 内部ログ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292608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974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566160"/>
            <a:ext cx="29260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6118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Teacher出力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Vn（高精度）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3774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32918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1737360"/>
            <a:ext cx="292608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7830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Student入力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表面特徴 + レシピ + 潜在 z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651760"/>
            <a:ext cx="2926080" cy="6400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6974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Graph Transformer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29260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361188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Student出力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Vn（運用）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23774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291840"/>
            <a:ext cx="0" cy="27432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31920" y="2971800"/>
            <a:ext cx="59436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3192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F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蒸留（表現/出力）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1737360"/>
            <a:ext cx="391637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1828800"/>
            <a:ext cx="3550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内部ログ例（学習時のみ）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2011680"/>
            <a:ext cx="37334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直接/反射寄与フラックス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入射角・エネルギー分布（ヒスト）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再入射回数・反射回数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表面拡散の統計（任意）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4389120"/>
            <a:ext cx="1018001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8720" y="4480560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663440"/>
            <a:ext cx="98142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内部影響（遮蔽/反射/二次反応）を取り込みつつ、運用は軽量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実測合わせ（z同定）時に、内部ログが無くても近い挙動を再現しやすい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推論（高速形状シミュレータ）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Vn（表面）→ SDF格子へ投影 → レベルセット更新 を繰り返す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推論ループ（1条件）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5212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初期形状：voxel → SDF φ0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52120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5146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表面抽出・点群サンプル（N点）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5212080" cy="548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2004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Graph Transformer → Vn(p) 推定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840480"/>
            <a:ext cx="52120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862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VnをSDF格子（narrow band）へ投影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4526280"/>
            <a:ext cx="5212080" cy="5486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720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5) レベルセット更新：φ←φ−dt·Vn|∇φ|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5212080"/>
            <a:ext cx="521208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2578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6) 必要なら再距離化（fast marching 等）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897880"/>
            <a:ext cx="5212080" cy="5486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594360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7) 出力：SDF/等値面/断面/指標（時刻ごと）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88720" y="2331720"/>
            <a:ext cx="822960" cy="3291840"/>
          </a:xfrm>
          <a:prstGeom prst="arc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5852160"/>
            <a:ext cx="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188720" y="3840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時間ステップで反復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501365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体積全体をNNに入れない（表面だけ）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形状更新はSDFが担保→破綻しにくい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非局所性は「非局所エッジ」で表現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出力は断面比較・3D可視化へ直結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出力例（概念）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75120" y="41605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5257800"/>
            <a:ext cx="1920240" cy="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326880" y="416052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66960" y="4480560"/>
            <a:ext cx="118872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7F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等値面(φ=0)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実測SEMへの合わせ込み（同定）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未知フラックス/反応を潜在 z に集約し、SEM特徴でMAP/SBI同定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同定フロー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2560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28800"/>
            <a:ext cx="2340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SEM画像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（断面）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783080"/>
            <a:ext cx="265176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828800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特徴抽出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CD/角度/曲率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130552"/>
            <a:ext cx="27432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2788920"/>
            <a:ext cx="406908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2834640"/>
            <a:ext cx="3849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同定： z* = argmin ||feat(pred(z))−feat(SEM)||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 posterior p(z|feat)（SBI）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2468880"/>
            <a:ext cx="0" cy="32004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23160" y="3840480"/>
            <a:ext cx="4069080" cy="685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3886200"/>
            <a:ext cx="38496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を固定して高速推論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（Graph Transformer + SDF更新）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3566160"/>
            <a:ext cx="0" cy="27432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SBIのイメージ（事後分布）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005840" y="5029200"/>
          <a:ext cx="5486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1005840" y="6675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多峰性・不確かさを保持 → 追加実験/追加Simの意思決定に使える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vs SBI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75120" y="1691640"/>
            <a:ext cx="1253414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9984" y="1737360"/>
            <a:ext cx="11436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28534" y="1691640"/>
            <a:ext cx="210573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3398" y="1737360"/>
            <a:ext cx="199600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034269" y="1691640"/>
            <a:ext cx="1654506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89133" y="1737360"/>
            <a:ext cx="15447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75120" y="2039112"/>
            <a:ext cx="1253414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29984" y="2084832"/>
            <a:ext cx="114368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928534" y="2039112"/>
            <a:ext cx="2105735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83398" y="2084832"/>
            <a:ext cx="199600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実装が軽い・速い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034269" y="2039112"/>
            <a:ext cx="1654506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89133" y="2084832"/>
            <a:ext cx="1544778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多峰性に弱い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675120" y="3236976"/>
            <a:ext cx="1253414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29984" y="3282696"/>
            <a:ext cx="114368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928534" y="3236976"/>
            <a:ext cx="2105735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83398" y="3282696"/>
            <a:ext cx="199600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尤度不要・分布で推定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034269" y="3236976"/>
            <a:ext cx="1654506" cy="11978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89133" y="3282696"/>
            <a:ext cx="1544778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学習/設計コスト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675120" y="4663440"/>
            <a:ext cx="5013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実測が少数（10条件）でも、まずMAPで回し、安定後にSBIへ拡張するのが現実的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学習評価：断面輪郭比較とメトリクス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Validation/Testで「横断面輪郭（pred vs gt/SEM）」と工学KPIを同時に見る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断面輪郭比較（概念図）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5303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148840"/>
            <a:ext cx="0" cy="292608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5074920"/>
            <a:ext cx="4480560" cy="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4892040"/>
            <a:ext cx="3566160" cy="0"/>
          </a:xfrm>
          <a:prstGeom prst="line">
            <a:avLst/>
          </a:prstGeom>
          <a:noFill/>
          <a:ln w="38100">
            <a:solidFill>
              <a:srgbClr val="1F7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4846320"/>
            <a:ext cx="3611880" cy="0"/>
          </a:xfrm>
          <a:prstGeom prst="line">
            <a:avLst/>
          </a:prstGeom>
          <a:noFill/>
          <a:ln w="38100">
            <a:solidFill>
              <a:srgbClr val="FF7F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4873752"/>
            <a:ext cx="3566160" cy="0"/>
          </a:xfrm>
          <a:prstGeom prst="line">
            <a:avLst/>
          </a:prstGeom>
          <a:noFill/>
          <a:ln w="25400">
            <a:solidFill>
              <a:srgbClr val="2CA0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377440"/>
            <a:ext cx="164592" cy="164592"/>
          </a:xfrm>
          <a:prstGeom prst="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GT（HF sim）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670048"/>
            <a:ext cx="164592" cy="164592"/>
          </a:xfrm>
          <a:prstGeom prst="rect">
            <a:avLst/>
          </a:prstGeom>
          <a:solidFill>
            <a:srgbClr val="FF7F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624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Pred（surrogate）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2962656"/>
            <a:ext cx="164592" cy="164592"/>
          </a:xfrm>
          <a:prstGeom prst="rect">
            <a:avLst/>
          </a:prstGeom>
          <a:solidFill>
            <a:srgbClr val="2CA02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2916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2286000"/>
            <a:ext cx="1280160" cy="411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350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4526280"/>
            <a:ext cx="1463040" cy="411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4590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CD@高さ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4526280"/>
            <a:ext cx="146304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5902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底形状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評価メトリクス（例）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1691640"/>
            <a:ext cx="140382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9984" y="1737360"/>
            <a:ext cx="1294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78943" y="1691640"/>
            <a:ext cx="360983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3807" y="1737360"/>
            <a:ext cx="3500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2039112"/>
            <a:ext cx="1403823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2084832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78943" y="2039112"/>
            <a:ext cx="36098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3807" y="2084832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輪郭距離（Chamfer/Hausdorff）、SDF誤差（band内）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807208"/>
            <a:ext cx="1403823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9984" y="2852928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工学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78943" y="2807208"/>
            <a:ext cx="3609832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3807" y="2852928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CD@複数高さ、sidewall angle、ボトム曲率/フッティング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3575304"/>
            <a:ext cx="1403823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3621024"/>
            <a:ext cx="1294095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78943" y="3575304"/>
            <a:ext cx="360983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3807" y="3621024"/>
            <a:ext cx="35001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ロールアウト破綻率、SDF再距離化頻度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学習曲線（概念）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75120" y="4892040"/>
            <a:ext cx="501365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5943600"/>
            <a:ext cx="438912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6080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epoch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02552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必要データと形式（目安）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少runでも「表面点×時間」で学習サンプルを増幅。非局所性の学習には多様性が重要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データ数の目安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95864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18489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1605" y="1691640"/>
            <a:ext cx="1305763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6469" y="1737360"/>
            <a:ext cx="11960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87368" y="1691640"/>
            <a:ext cx="217627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73736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1958645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run数（MVP）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1605" y="2039112"/>
            <a:ext cx="1305763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6469" y="2084832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20〜40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87368" y="2039112"/>
            <a:ext cx="2176272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2084832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非局所性を学ぶため条件多様性が必要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58034"/>
            <a:ext cx="1958645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603754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 run数（標準）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81605" y="2558034"/>
            <a:ext cx="1305763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6469" y="2603754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60〜120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87368" y="2558034"/>
            <a:ext cx="2176272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2603754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複数レジームをカバー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076956"/>
            <a:ext cx="1958645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122676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snapshot/run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1605" y="3076956"/>
            <a:ext cx="1305763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6469" y="3122676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20〜50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87368" y="3076956"/>
            <a:ext cx="2176272" cy="51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3122676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I/Oと学習安定性のバランス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3595878"/>
            <a:ext cx="1958645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641598"/>
            <a:ext cx="1848917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点群/step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1605" y="3595878"/>
            <a:ext cx="1305763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6469" y="3641598"/>
            <a:ext cx="1196035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1万〜20万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87368" y="3595878"/>
            <a:ext cx="2176272" cy="51892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3641598"/>
            <a:ext cx="2066544" cy="4274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学習はサブサンプル（例:2万）でOK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4251960"/>
            <a:ext cx="54406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4297680"/>
            <a:ext cx="5221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ポイント：N（点数）よりも「条件の多様性」＋「非局所エッジ設計」が精度に効く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推奨データ形式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75120" y="1691640"/>
            <a:ext cx="1754779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1737360"/>
            <a:ext cx="164505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29899" y="1691640"/>
            <a:ext cx="1253414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4763" y="1737360"/>
            <a:ext cx="114368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83313" y="1691640"/>
            <a:ext cx="2005462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177" y="1737360"/>
            <a:ext cx="18957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2039112"/>
            <a:ext cx="1754779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2084832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SDF格子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429899" y="2039112"/>
            <a:ext cx="1253414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4763" y="2084832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HDF5/Zarr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683313" y="2039112"/>
            <a:ext cx="2005462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38177" y="2084832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φ(t)をchunk+圧縮（float16可）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2638044"/>
            <a:ext cx="1754779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9984" y="2683764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表面点群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429899" y="2638044"/>
            <a:ext cx="1253414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84763" y="2683764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HDF5/Zarr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83313" y="2638044"/>
            <a:ext cx="2005462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38177" y="2683764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pos/normal/κ + edge_index/attr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3236976"/>
            <a:ext cx="1754779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3282696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429899" y="3236976"/>
            <a:ext cx="1253414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84763" y="3282696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CSV/JSON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83313" y="3236976"/>
            <a:ext cx="2005462" cy="5989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38177" y="3282696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CD/角度/曲率など少次元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675120" y="3835908"/>
            <a:ext cx="1754779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29984" y="3881628"/>
            <a:ext cx="1645051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429899" y="3835908"/>
            <a:ext cx="1253414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84763" y="3881628"/>
            <a:ext cx="1143686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VTI/PNG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683313" y="3835908"/>
            <a:ext cx="2005462" cy="5989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38177" y="3881628"/>
            <a:ext cx="1895734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時系列出力（PVD/VTI）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675120" y="4754880"/>
            <a:ext cx="5013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4800600"/>
            <a:ext cx="4794199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例：/runs/{id}/steps/{t}/pos[N,3], normal[N,3], feat[N,F],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edge_index[2,E], edge_attr[E,A], vn_target[N,1], recipe[C]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想定課題と対策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表面抽出ノイズ／非局所エッジ生成コスト／Transformerスケールを計画的に潰す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1118585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2320071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37360"/>
            <a:ext cx="22103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43031" y="1691640"/>
            <a:ext cx="4218310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7895" y="1737360"/>
            <a:ext cx="410858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何が起きる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1341" y="1691640"/>
            <a:ext cx="4007395" cy="347472"/>
          </a:xfrm>
          <a:prstGeom prst="rect">
            <a:avLst/>
          </a:prstGeom>
          <a:solidFill>
            <a:srgbClr val="E9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16205" y="1737360"/>
            <a:ext cx="38976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対策（実装）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39112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084832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表面ノイズ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43031" y="2039112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7895" y="2084832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法線/曲率が不安定、学習が揺れる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1341" y="2039112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6205" y="2084832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平滑化、重要部高密度サンプル、法線再推定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865730"/>
            <a:ext cx="2320071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2911450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非局所コスト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43031" y="2865730"/>
            <a:ext cx="4218310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7895" y="2911450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レイキャストが重い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61341" y="2865730"/>
            <a:ext cx="4007395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16205" y="2911450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方向数削減、キャッシュ、パッチ処理、近似Kij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692347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738067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Transformer重い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43031" y="3692347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97895" y="3738067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N増大で遅い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61341" y="3692347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16205" y="3738067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疎attention、階層化、クラスタリング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" y="4518965"/>
            <a:ext cx="2320071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4564685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投影ぼけ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43031" y="4518965"/>
            <a:ext cx="4218310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97895" y="4564685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Vn→格子が平滑化される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1341" y="4518965"/>
            <a:ext cx="4007395" cy="82661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16205" y="4564685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密度制御、補間改善、TV正則化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" y="5345582"/>
            <a:ext cx="2320071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391302"/>
            <a:ext cx="2210343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同定非一意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43031" y="5345582"/>
            <a:ext cx="4218310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97895" y="5391302"/>
            <a:ext cx="4108582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複数zが同形状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1341" y="5345582"/>
            <a:ext cx="4007395" cy="82661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6205" y="5391302"/>
            <a:ext cx="3897667" cy="735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SBIで分布推定、事前制約、追加観測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優先度：安定化（SDF更新）→非局所エッジ→蒸留/同定の順に段階導入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A3D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まとめ：本方式の位置づけと次の拡張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「内部影響（非局所性）」を表面結合で表現できるのが2位案の強み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この方式が強い領域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5349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遮蔽・反射・再入射など、MCの“非局所性”が支配的なプロセス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体積voxelを直接学習すると重い／破綻しやすいケース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表面の微細形状（丸み・角度）を優先して再現したいケース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703320"/>
            <a:ext cx="5349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5669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形状複雑度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3703320"/>
            <a:ext cx="5349240" cy="2286000"/>
          </a:xfrm>
          <a:prstGeom prst="rtTriangl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本方式が効く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77B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（非局所×複雑）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5196535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97280"/>
            <a:ext cx="483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次の拡張（ロードマップ）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783080"/>
            <a:ext cx="5013655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182880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P1: 可視化/評価出力（VTI/断面比較/グラフ）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514600"/>
            <a:ext cx="5013655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256032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P2: 非局所エッジ強化（view-factor近似、キャッシュ）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246120"/>
            <a:ext cx="5013655" cy="5943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29184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P2: 蒸留（内部ログ→Student）＋SEM同定（SBI）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5013655" cy="5943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4023360"/>
            <a:ext cx="4794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P3: 多忠実度/能動学習＋レシピ探索（BO/MFBO）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結論：表面中心×非局所結合により、MCの“内部影響”を学習に取り込みつつ、SDF更新で時間発展を安定化できる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611112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Graph Transformer + Nonlocal Coupling + SDF update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2960</Words>
  <Application>Microsoft Macintosh PowerPoint</Application>
  <PresentationFormat>ワイド画面</PresentationFormat>
  <Paragraphs>493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Project 形状シミュレーション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Wafer shape surrogate (Surface Graph Transformer)</dc:title>
  <dc:subject>Surface Graph Transformer + Nonlocal Coupling + SDF update</dc:subject>
  <dc:creator>Codex Handoff / Surrogate Modeling</dc:creator>
  <cp:lastModifiedBy>kawahito</cp:lastModifiedBy>
  <cp:revision>2</cp:revision>
  <dcterms:created xsi:type="dcterms:W3CDTF">2026-02-15T03:49:29Z</dcterms:created>
  <dcterms:modified xsi:type="dcterms:W3CDTF">2026-02-17T00:06:59Z</dcterms:modified>
</cp:coreProperties>
</file>