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相対時間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HF MC 3D</c:v>
                </c:pt>
                <c:pt idx="1">
                  <c:v>LF（粗格子等）</c:v>
                </c:pt>
                <c:pt idx="2">
                  <c:v>NO推論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10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3-CE42-8F4F-DC31B8795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点数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体積 voxel</c:v>
                </c:pt>
                <c:pt idx="1">
                  <c:v>表面 points/mesh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F1-2544-9573-D2885E2E18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LF</c:v>
                </c:pt>
                <c:pt idx="1">
                  <c:v>HF</c:v>
                </c:pt>
                <c:pt idx="2">
                  <c:v>SEM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</c:v>
                </c:pt>
                <c:pt idx="1">
                  <c:v>60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4A-9747-831F-B67E5274B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0.75</c:v>
                </c:pt>
                <c:pt idx="2">
                  <c:v>0.55000000000000004</c:v>
                </c:pt>
                <c:pt idx="3">
                  <c:v>0.45</c:v>
                </c:pt>
                <c:pt idx="4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58-994C-9001-A88C8B6B21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1.1000000000000001</c:v>
                </c:pt>
                <c:pt idx="1">
                  <c:v>0.85</c:v>
                </c:pt>
                <c:pt idx="2">
                  <c:v>0.65</c:v>
                </c:pt>
                <c:pt idx="3">
                  <c:v>0.55000000000000004</c:v>
                </c:pt>
                <c:pt idx="4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58-994C-9001-A88C8B6B2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475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Neural Operator survey (JMLR 2023): https://www.jmlr.org/papers/volume24/21-1524/21-1524.pdf
- Multi-fidelity ML overview (arXiv 2024): https://arxiv.org/abs/2410.23482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ViennaPS (level-set + MC ray tracing context for expensive topography simulation): https://www.sciencedirect.com/science/article/pii/S2352711025004194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sbi reloaded (JOSS 2025): https://joss.theoj.org/papers/10.21105/joss.07754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ViennaPS (level-set/SDF topography evolution): https://www.sciencedirect.com/science/article/pii/S2352711025004194
- DRIE narrow band level set + Monte Carlo (Micromachines 2018): https://www.mdpi.com/2072-666X/9/2/74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DRIE narrow band level set + Monte Carlo (Micromachines 2018): https://www.mdpi.com/2072-666X/9/2/74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Neural Operator survey (JMLR 2023): https://www.jmlr.org/papers/volume24/21-1524/21-1524.pdf
- Fourier Neural Operator (arXiv 2010.08895): https://arxiv.org/abs/2010.08895
- U-NO (OpenReview): https://openreview.net/forum?id=j3oQF9coJd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Fourier Neural Operator (arXiv 2010.08895): https://arxiv.org/abs/2010.08895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U-NO (OpenReview): https://openreview.net/forum?id=j3oQF9coJd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Multi-fidelity ML overview (arXiv 2410.23482): https://arxiv.org/abs/2410.23482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sbi reloaded (JOSS 2025): https://joss.theoj.org/papers/10.21105/joss.07754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MFBO review (arXiv 2311.13050): https://arxiv.org/abs/2311.13050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Neural Operator survey (JMLR 2023): https://www.jmlr.org/papers/volume24/21-1524/21-1524.pdf
- Multi-fidelity ML overview (arXiv 2024): https://arxiv.org/abs/2410.23482
- sbi reloaded (JOSS 2025): https://joss.theoj.org/papers/10.21105/joss.07754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3位案：Time-conditioned Neural Operator + 多忠実度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形状シミュレーション・サロゲート（実装モデル説明）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この資料で説明する実装要素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背景と課題（本コードが無い場合に何が困るか）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Time-conditioned（任意時刻クエリ）という設計の意味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Operator（FNO/UNO）ブロック図（実装視点）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多忠実度（LF→HF）学習の設計：必要データ量の目安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SEMを使った潜在同定（MAP/SBI）への接続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評価・可視化出力（断面比較/指標/ログ）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全体イメージ（図はすべてPowerPoint図形で作成）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788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4572000"/>
            <a:ext cx="1920240" cy="59436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LF大量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(粗格子/簡略)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79192" y="4869180"/>
            <a:ext cx="3200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99232" y="4572000"/>
            <a:ext cx="1920240" cy="59436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NO事前学習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19472" y="4869180"/>
            <a:ext cx="3200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239512" y="4572000"/>
            <a:ext cx="1920240" cy="594360"/>
          </a:xfrm>
          <a:prstGeom prst="rect">
            <a:avLst/>
          </a:prstGeom>
          <a:solidFill>
            <a:srgbClr val="FFE6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HF少量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(MC3D)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59752" y="4869180"/>
            <a:ext cx="3200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79792" y="4572000"/>
            <a:ext cx="1920240" cy="59436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微調整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(PEFT)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00032" y="4869180"/>
            <a:ext cx="3200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720072" y="4572000"/>
            <a:ext cx="1920240" cy="59436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Time-conditioned：ロールアウトせず任意時刻に直接クエリ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背景：MC形状シミュレーションが高価で、探索と同定が回らない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本コードが無い場合の課題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257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3Dは1条件あたり2時間以上＋メモリ重 → 条件探索が実質不可能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反射/再入射/拡散など二次以降が効く → 物理パラメータが増えて同定が破綻しやすい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実測はSEM最終形状中心 → 何の物理が足りないか切り分け不能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工程ごとの実測は10条件程度 → 巨大教師あり学習（1万条件）を避けたい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期待する効果（サロゲートのKPI）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1596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34840"/>
            <a:ext cx="1645920" cy="1691640"/>
          </a:xfrm>
          <a:prstGeom prst="rect">
            <a:avLst/>
          </a:prstGeom>
          <a:solidFill>
            <a:srgbClr val="F8FBFE"/>
          </a:solidFill>
          <a:ln w="12700">
            <a:solidFill>
              <a:srgbClr val="9DD7F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高速推論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（条件探索を可能に）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4434840"/>
            <a:ext cx="1645920" cy="1691640"/>
          </a:xfrm>
          <a:prstGeom prst="rect">
            <a:avLst/>
          </a:prstGeom>
          <a:solidFill>
            <a:srgbClr val="F8FBFE"/>
          </a:solidFill>
          <a:ln w="12700">
            <a:solidFill>
              <a:srgbClr val="9DD7F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任意時刻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（時間発展/最終形状）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4434840"/>
            <a:ext cx="1645920" cy="1691640"/>
          </a:xfrm>
          <a:prstGeom prst="rect">
            <a:avLst/>
          </a:prstGeom>
          <a:solidFill>
            <a:srgbClr val="F8FBFE"/>
          </a:solidFill>
          <a:ln w="12700">
            <a:solidFill>
              <a:srgbClr val="9DD7F5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少データ同定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（SEM 10条件でも）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05156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計算コスト（概念図）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43560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graphicFrame>
        <p:nvGraphicFramePr>
          <p:cNvPr id="13" name="Chart 0"/>
          <p:cNvGraphicFramePr/>
          <p:nvPr/>
        </p:nvGraphicFramePr>
        <p:xfrm>
          <a:off x="6629400" y="1691640"/>
          <a:ext cx="53492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6629400" y="4343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※数値は模式（説明用）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29400" y="4754880"/>
            <a:ext cx="5349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48280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探索/同定の現実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66560" y="51206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HFだけだと…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・条件 sweep が不可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・最適化が不可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・同定ループが回らない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0" y="513892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6A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LFで学び、HFで補正し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6A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サロゲートで高速反復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全体ワークフロー（図形で固定）：LF事前学習→HF微調整→任意時刻推論→SEM同定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ワークフロー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828800" cy="73152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LFデータ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(大量)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737360"/>
            <a:ext cx="2377440" cy="7315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Time-conditioned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Operator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事前学習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737360"/>
            <a:ext cx="1828800" cy="731520"/>
          </a:xfrm>
          <a:prstGeom prst="rect">
            <a:avLst/>
          </a:prstGeom>
          <a:solidFill>
            <a:srgbClr val="FFE6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HFデータ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(少量)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1737360"/>
            <a:ext cx="2377440" cy="7315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微調整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(PEFT/Adapters)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0" y="1737360"/>
            <a:ext cx="1097280" cy="73152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完成モデル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103120"/>
            <a:ext cx="3657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0" y="2103120"/>
            <a:ext cx="45720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2103120"/>
            <a:ext cx="3657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515600" y="2103120"/>
            <a:ext cx="18288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3154680"/>
            <a:ext cx="10881360" cy="109728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227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推論（高速・反復）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566160"/>
            <a:ext cx="914400" cy="50292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3566160"/>
            <a:ext cx="91440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566160"/>
            <a:ext cx="914400" cy="50292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566160"/>
            <a:ext cx="9144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347472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Gθ(φ0,c,t,z)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0" y="3566160"/>
            <a:ext cx="1097280" cy="50292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813048"/>
            <a:ext cx="8229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80960" y="3813048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235440" y="3611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任意時刻へ直接クエリ（時間ジャンプ）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617720"/>
            <a:ext cx="10881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690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SEM同定（少数条件）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5166360"/>
            <a:ext cx="2011680" cy="640080"/>
          </a:xfrm>
          <a:prstGeom prst="rect">
            <a:avLst/>
          </a:prstGeom>
          <a:solidFill>
            <a:srgbClr val="FDE2F3"/>
          </a:solidFill>
          <a:ln w="12700">
            <a:solidFill>
              <a:srgbClr val="D98BC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SEM輪郭→特徴 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5166360"/>
            <a:ext cx="2377440" cy="64008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 φ(t)→同特徴 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5166360"/>
            <a:ext cx="2011680" cy="64008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/ SBI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 z 推定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5166360"/>
            <a:ext cx="2011680" cy="64008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を固定して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探索/予測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548640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43600" y="548640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29600" y="5486400"/>
            <a:ext cx="45720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Voxel→表面データ化の効果（スケール則）と、本案でSDFを状態に採用する理由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76072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計算スケール（概念）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76072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777240" y="1508760"/>
          <a:ext cx="5303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体積O(N^3) vs 表面O(N^2) → 表面中心化で計算/メモリが改善（概念）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576072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ただし本案（3位）では「場→場」なので…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361688"/>
            <a:ext cx="576072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434840"/>
            <a:ext cx="5440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Operatorは 3D格子上の“場”を扱う（φを直接予測）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そこで φ を SDF（Signed Distance Field）として学ぶと、断面比較や連続性の評価がしやすい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一方で SDF性（|∇φ|≈1）が崩れやすい → Eikonal正則化・再距離化等が重要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1051560"/>
            <a:ext cx="565099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表面化/距離場化の比較（要点）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37960" y="1435608"/>
            <a:ext cx="565099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1112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0708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23860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363456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36608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776204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849356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本案での使い方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37960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11112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voxel(体積)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950708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23860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定義が単純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363456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36608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3Dで重い/連続性弱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776204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849356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LF生成や可視化の入力元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37960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11112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表面(mesh/points)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950708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23860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軽量/法線・曲率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363456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436608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位相変化/更新が難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10776204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849356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（比較）表面中心案で主役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537960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11112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SDF(距離場)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950708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23860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連続/断面評価/幾何制約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363456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436608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正則化が必要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0776204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849356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本案のφとして採用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SDF系手法の整理（本案で必要になる処理）：生成・正則化・再距離化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SDFの作り方（voxel→SDF）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5212080" cy="224028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64208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occupancy（材料/空隙）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距離変換（inside/outside）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符号付け（規約を統一）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必要ならnarrow band抽出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828800"/>
            <a:ext cx="1234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06340" y="2057400"/>
            <a:ext cx="640080" cy="64008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inside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297180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φ&lt;0 / φ&gt;0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（規約）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SDF性の維持（本案での最重要：Eikonal正則化）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6168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434840"/>
            <a:ext cx="5212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553712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Eikonal：|∇φ|≈1 を保つ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L_eik = E[(|∇φ|-1)^2]（narrow bandで計算）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補助：マスク境界条件、単調性（工程別）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1051560"/>
            <a:ext cx="565099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SDF系の“同区分”比較（いつ何を使うか）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1435608"/>
            <a:ext cx="565099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0708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3860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63456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776204" y="1554480"/>
            <a:ext cx="141274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49356" y="160934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grid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0708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3860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学習のφ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63456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36608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連続形状/断面評価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76204" y="205740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49356" y="211226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SDF性が崩れやすい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narrow band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0708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3860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損失/評価の範囲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63456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36608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計算削減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776204" y="256032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49356" y="261518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band幅wの設計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37960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1112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再距離化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50708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23860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SDF性回復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63456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36608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破綻抑制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776204" y="3063240"/>
            <a:ext cx="14127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49356" y="311810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計算コスト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37960" y="356616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11112" y="362102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SDF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950708" y="356616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23860" y="362102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高解像表現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363456" y="356616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36608" y="362102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微細丸み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776204" y="3566160"/>
            <a:ext cx="141274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849356" y="3621024"/>
            <a:ext cx="12664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学習/運用が重い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Operatorの考え方：場→場の写像（解像度一般化を狙う枠組み）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80644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Operator Learningの直観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80644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5349240" cy="23317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64208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通常NN：R^n → R^m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Neural Operator：関数空間 → 関数空間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（離散化が変わっても同じパラメータで扱うことを目指す）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51560" y="306324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64³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3383280"/>
            <a:ext cx="5486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306324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128³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3383280"/>
            <a:ext cx="5486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306324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256³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1051560"/>
            <a:ext cx="565099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代表構成：FNO / UNO（本案での候補）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1435608"/>
            <a:ext cx="565099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554480"/>
            <a:ext cx="1883664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60934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21624" y="1554480"/>
            <a:ext cx="1883664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4776" y="160934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305288" y="1554480"/>
            <a:ext cx="1883664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160934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本案での狙い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37960" y="2057400"/>
            <a:ext cx="18836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112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FNO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21624" y="2057400"/>
            <a:ext cx="18836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4776" y="2112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FFTで周波数モードを更新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05288" y="2057400"/>
            <a:ext cx="18836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78440" y="2112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広域依存を効率的に表現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2560320"/>
            <a:ext cx="1883664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26151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21624" y="2560320"/>
            <a:ext cx="1883664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94776" y="26151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U字スキップでマルチスケール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305288" y="2560320"/>
            <a:ext cx="1883664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78440" y="26151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局所/高周波を補強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37960" y="3063240"/>
            <a:ext cx="18836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311810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time-cond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21624" y="3063240"/>
            <a:ext cx="18836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94776" y="311810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tを埋め込み/FiLMで注入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05288" y="3063240"/>
            <a:ext cx="18836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78440" y="311810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任意時刻を直接推定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537960" y="4160520"/>
            <a:ext cx="56509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2336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ブロック図（概略）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12280" y="4617720"/>
            <a:ext cx="1463040" cy="54864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入力φ0+条件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49640" y="4617720"/>
            <a:ext cx="1463040" cy="54864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FNO/UNO×L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87000" y="4617720"/>
            <a:ext cx="1463040" cy="54864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出力φ(t)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75320" y="489204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012680" y="489204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9006840" y="5303520"/>
            <a:ext cx="1097280" cy="54864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t,z→埋め込み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(FiLM)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555480" y="5303520"/>
            <a:ext cx="0" cy="0"/>
          </a:xfrm>
          <a:prstGeom prst="line">
            <a:avLst/>
          </a:prstGeom>
          <a:noFill/>
          <a:ln w="25400">
            <a:solidFill>
              <a:srgbClr val="8888C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ネットワーク詳細①：FNO（Fourier Neural Operator）ブロックの動き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FNO layer（概念：FFT→モード更新→IFFT）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1463040" cy="73152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u(x)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(特徴場)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828800"/>
            <a:ext cx="1463040" cy="73152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周波数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モード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2194560" cy="7315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線形変換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(低ランク/モード制限)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0" y="1828800"/>
            <a:ext cx="1097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49840" y="1828800"/>
            <a:ext cx="1463040" cy="73152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u′(x)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68880" y="2194560"/>
            <a:ext cx="3657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2194560"/>
            <a:ext cx="3657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60720" y="2194560"/>
            <a:ext cx="3657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194560"/>
            <a:ext cx="3657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84080" y="2194560"/>
            <a:ext cx="3657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" y="2971800"/>
            <a:ext cx="10607040" cy="26517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044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実装で押さえる点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29000"/>
            <a:ext cx="10241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モード数（k_max）で計算/表現を制御（高周波ほど鋭角・薄膜に効く）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Residual（u + FNO(u)）とMLP/活性化で安定化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t, z, c は FiLM/埋め込みで各層に注入（時間条件付け）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 FFTは重い → 解像度段階学習やUNO併用を検討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ネットワーク詳細②：UNO（U-shaped Neural Operator）でマルチスケールを補強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UNOの狙い：U字スキップで局所/高周波を保持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737360"/>
            <a:ext cx="128016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63040" y="2423160"/>
            <a:ext cx="128016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3108960"/>
            <a:ext cx="128016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2697480"/>
            <a:ext cx="2011680" cy="64008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Bottleneck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(operator blocks)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128016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2423160"/>
            <a:ext cx="128016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3108960"/>
            <a:ext cx="128016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988820"/>
            <a:ext cx="109728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0" y="2674620"/>
            <a:ext cx="109728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43200" y="3360420"/>
            <a:ext cx="109728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1988820"/>
            <a:ext cx="457200" cy="89154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2674620"/>
            <a:ext cx="457200" cy="20574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0480" y="3360420"/>
            <a:ext cx="45720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309360" y="2880360"/>
            <a:ext cx="8229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9360" y="2880360"/>
            <a:ext cx="8229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09360" y="2880360"/>
            <a:ext cx="822960" cy="48006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40690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41330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6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skip connections（概念）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7480" y="4389120"/>
            <a:ext cx="777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4389120"/>
            <a:ext cx="777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20440" y="4590288"/>
            <a:ext cx="2331720" cy="0"/>
          </a:xfrm>
          <a:prstGeom prst="line">
            <a:avLst/>
          </a:prstGeom>
          <a:noFill/>
          <a:ln w="25400">
            <a:solidFill>
              <a:srgbClr val="C9A6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549640" y="1828800"/>
            <a:ext cx="3063240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本用途でUNOが効きやすい場面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2395728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鋭角/薄膜/丸み：高周波と局所情報が重要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マスク近傍：マルチスケールの相互作用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 FFTの負荷を補う：局所経路で補強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0" y="434340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注意：UNOはNOの一種であり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実装はFNOより複雑になりがち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まずFNOでMVP→必要に応じてUNO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時間条件付け（time-conditioning）の実装：tをどうモデルへ入れるか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代表的な3パターン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19456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600200"/>
            <a:ext cx="219456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65506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600200"/>
            <a:ext cx="219456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165506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600200"/>
            <a:ext cx="219456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25512" y="165506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46920" y="1600200"/>
            <a:ext cx="2194560" cy="59436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165506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219456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24942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A: tをチャネル追加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219456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224942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tを全格子へbroadcast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219456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224942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簡単・安定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52360" y="219456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24942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表現が弱い場合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46920" y="219456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0072" y="224942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2788920"/>
            <a:ext cx="2194560" cy="5943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84378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B: t埋め込み→FiLM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63240" y="2788920"/>
            <a:ext cx="2194560" cy="5943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284378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各層でscale/shift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2788920"/>
            <a:ext cx="2194560" cy="5943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284378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条件依存が強い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2788920"/>
            <a:ext cx="2194560" cy="5943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284378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実装が増える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46920" y="2788920"/>
            <a:ext cx="2194560" cy="5943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20072" y="284378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8680" y="338328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343814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C: 4D operator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63240" y="338328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343814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(x,y,z,t)→φ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57800" y="338328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0952" y="343814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表現力最大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52360" y="338328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5512" y="343814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計算が重い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46920" y="3383280"/>
            <a:ext cx="21945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20072" y="3438144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8680" y="4160520"/>
            <a:ext cx="10972800" cy="21945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4187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推奨：B（t埋め込み→FiLM）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97280" y="4617720"/>
            <a:ext cx="1097280" cy="50292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t,z,c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377440" y="461772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Embed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MLP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0" y="4617720"/>
            <a:ext cx="91440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γ,β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46320" y="4526280"/>
            <a:ext cx="1828800" cy="68580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FNO/UNO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block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49440" y="4718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 → γ·u + β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194560" y="4873752"/>
            <a:ext cx="182880" cy="0"/>
          </a:xfrm>
          <a:prstGeom prst="line">
            <a:avLst/>
          </a:prstGeom>
          <a:noFill/>
          <a:ln w="25400">
            <a:solidFill>
              <a:srgbClr val="8888CC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474720" y="4873752"/>
            <a:ext cx="182880" cy="0"/>
          </a:xfrm>
          <a:prstGeom prst="line">
            <a:avLst/>
          </a:prstGeom>
          <a:noFill/>
          <a:ln w="25400">
            <a:solidFill>
              <a:srgbClr val="8888CC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572000" y="4873752"/>
            <a:ext cx="274320" cy="0"/>
          </a:xfrm>
          <a:prstGeom prst="line">
            <a:avLst/>
          </a:prstGeom>
          <a:noFill/>
          <a:ln w="25400">
            <a:solidFill>
              <a:srgbClr val="8888CC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105156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FiLM：条件で層の挙動を調整し、時間一般化を助ける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多忠実度（LF→HF）学習：データ設計と学習スケジュール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学習スケジュール（推奨）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5212080" cy="12801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A: LF事前学習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057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大量のLFで条件空間と形状分布を学ぶ（形状の事前）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01752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B: HF微調整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4747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少量HFでギャップ補正（PEFT/Adapters推奨）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5212080" cy="128016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572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4E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Stage C: 実測SEMで潜在同定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8920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モデル本体は固定し、zだけ推定して実測へ合わせ込む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05156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LF候補（何を“安価”にするか）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143560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54480"/>
            <a:ext cx="143560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0934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1554480"/>
            <a:ext cx="143560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60934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17736" y="1554480"/>
            <a:ext cx="143560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60934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ギャップ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753344" y="1554480"/>
            <a:ext cx="1435608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26496" y="160934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205740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211226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粗格子SDF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82128" y="205740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11226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64³/96³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17736" y="205740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0888" y="211226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53344" y="205740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26496" y="211226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まず作りやすい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256032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261518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簡略物理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82128" y="256032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61518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反射/二次省略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17736" y="256032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0888" y="261518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中〜高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753344" y="256032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26496" y="261518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ギャップ補正前提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306324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311810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2D断面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306324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311810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2Dで多数条件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17736" y="306324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90888" y="311810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753344" y="3063240"/>
            <a:ext cx="14356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26496" y="311810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形状事前を作る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46520" y="356616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9672" y="362102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短時間窓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82128" y="356616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362102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初期〜中盤のみ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317736" y="356616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90888" y="362102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753344" y="3566160"/>
            <a:ext cx="1435608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826496" y="3621024"/>
            <a:ext cx="1289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時間一般化を助ける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46520" y="416052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必要データ数の目安（現実解）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446520" y="454456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graphicFrame>
        <p:nvGraphicFramePr>
          <p:cNvPr id="58" name="Chart 0"/>
          <p:cNvGraphicFramePr/>
          <p:nvPr/>
        </p:nvGraphicFramePr>
        <p:xfrm>
          <a:off x="6629400" y="4617720"/>
          <a:ext cx="534924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学習損失と制約：SDFの破綻を防ぐ（本案の成功条件）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損失の構成（例）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データ損失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L_data = ||φ_pred(t)-φ_gt(t)||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691640"/>
            <a:ext cx="3474720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Eikonal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L_eik = E[(|∇φ|-1)^2]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3474720" cy="100584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境界/マスク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L_mask（固定/速度ゼロ等）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3200400"/>
            <a:ext cx="3474720" cy="100584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正則化（任意）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TV/曲率/単調性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4297680"/>
            <a:ext cx="10972800" cy="201168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370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図：SDF性が崩れると何が起きるか（概念）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480060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1016" tIns="1016" rIns="1016" bIns="1016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6A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OK：|∇φ|≈1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08760" y="5669280"/>
            <a:ext cx="2011680" cy="0"/>
          </a:xfrm>
          <a:prstGeom prst="line">
            <a:avLst/>
          </a:prstGeom>
          <a:noFill/>
          <a:ln w="38100">
            <a:solidFill>
              <a:srgbClr val="1E6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480060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1016" tIns="1016" rIns="1016" bIns="1016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3B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NG：崩壊/ノイズ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5623560"/>
            <a:ext cx="548640" cy="0"/>
          </a:xfrm>
          <a:prstGeom prst="line">
            <a:avLst/>
          </a:prstGeom>
          <a:noFill/>
          <a:ln w="25400">
            <a:solidFill>
              <a:srgbClr val="9A3B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5257800"/>
            <a:ext cx="548640" cy="182880"/>
          </a:xfrm>
          <a:prstGeom prst="line">
            <a:avLst/>
          </a:prstGeom>
          <a:noFill/>
          <a:ln w="25400">
            <a:solidFill>
              <a:srgbClr val="9A3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5440680"/>
            <a:ext cx="548640" cy="0"/>
          </a:xfrm>
          <a:prstGeom prst="line">
            <a:avLst/>
          </a:prstGeom>
          <a:noFill/>
          <a:ln w="25400">
            <a:solidFill>
              <a:srgbClr val="9A3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892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対策：Eikonal + 境界条件 +（必要に応じて）再距離化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実測SEMへの合わせ込み：潜在 z の同定（MAP / SBI）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なぜ潜在 z を導入するか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フラックス/反応は観測困難（装置ノブから一意に決めにくい）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物理パラメータを全部列挙すると高次元で、SEM10条件では同定が不安定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形状に効く成分だけを低次元 z に集約し、SEM特徴で推定する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同定ループ（図）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502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160520"/>
            <a:ext cx="1737360" cy="685800"/>
          </a:xfrm>
          <a:prstGeom prst="rect">
            <a:avLst/>
          </a:prstGeom>
          <a:solidFill>
            <a:srgbClr val="FDE2F3"/>
          </a:solidFill>
          <a:ln w="12700">
            <a:solidFill>
              <a:srgbClr val="D98BC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SEM輪郭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→特徴 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4160520"/>
            <a:ext cx="1737360" cy="68580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Gθで推論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160520"/>
            <a:ext cx="914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4498848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4498848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5840" y="5074920"/>
            <a:ext cx="4937760" cy="114300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</a:ln>
        </p:spPr>
        <p:txBody>
          <a:bodyPr wrap="square" lIns="2286" tIns="2286" rIns="2286" bIns="2286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目的：y と ŷ を一致させるように z を推定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MAP：z* = argmin ||ŷ(z)-y||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SBI：p(z|y) を推定（不確かさ/多峰性）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05156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vs SBI（比較）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143560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54480"/>
            <a:ext cx="1148486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0934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95006" y="1554480"/>
            <a:ext cx="1148486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8158" y="160934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43493" y="1554480"/>
            <a:ext cx="1148486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16645" y="160934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91979" y="1554480"/>
            <a:ext cx="1148486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5131" y="160934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弱み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040466" y="1554480"/>
            <a:ext cx="1148486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13618" y="160934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103120"/>
            <a:ext cx="114848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215798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95006" y="2103120"/>
            <a:ext cx="114848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8158" y="215798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点推定 z*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43493" y="2103120"/>
            <a:ext cx="114848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16645" y="215798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実装が簡単/速い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91979" y="2103120"/>
            <a:ext cx="114848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5131" y="215798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多解/不確かさが見えない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040466" y="2103120"/>
            <a:ext cx="114848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13618" y="215798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MVP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2651760"/>
            <a:ext cx="1148486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270662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95006" y="2651760"/>
            <a:ext cx="1148486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8158" y="270662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事後分布 p(z|y)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743493" y="2651760"/>
            <a:ext cx="1148486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16645" y="270662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尤度不要/多峰性OK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91979" y="2651760"/>
            <a:ext cx="1148486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65131" y="270662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設計がやや重い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1040466" y="2651760"/>
            <a:ext cx="1148486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113618" y="2706624"/>
            <a:ext cx="100218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675120" y="4709160"/>
            <a:ext cx="5257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SBIのイメージ：事後分布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49440" y="6126480"/>
            <a:ext cx="46634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6126480"/>
            <a:ext cx="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40880" y="6035040"/>
            <a:ext cx="109728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5303520"/>
            <a:ext cx="1097280" cy="73152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09760" y="6035040"/>
            <a:ext cx="109728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87000" y="5349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多峰性を許す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学習評価（Validation/Test）：断面輪郭比較・指標・ログの出力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出力物（第三者が確認できる形）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時刻ごとのφ(t)（SDF）：VTI/NPZ等で保存（可視化可能）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断面輪郭比較（pred vs gt / pred vs SEM）：高さ別CD/角度/ボトム形状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学習曲線：loss / eikonal / 指標（CD誤差など）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OOD検知：条件が学習範囲外か（距離/不確かさ）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40507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断面輪郭（概念図）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6172200"/>
            <a:ext cx="45720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6172200"/>
            <a:ext cx="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6080760"/>
            <a:ext cx="1097280" cy="0"/>
          </a:xfrm>
          <a:prstGeom prst="line">
            <a:avLst/>
          </a:prstGeom>
          <a:noFill/>
          <a:ln w="25400">
            <a:solidFill>
              <a:srgbClr val="00A6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4983480"/>
            <a:ext cx="1554480" cy="0"/>
          </a:xfrm>
          <a:prstGeom prst="line">
            <a:avLst/>
          </a:prstGeom>
          <a:noFill/>
          <a:ln w="25400">
            <a:solidFill>
              <a:srgbClr val="00A6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4983480"/>
            <a:ext cx="1097280" cy="1097280"/>
          </a:xfrm>
          <a:prstGeom prst="line">
            <a:avLst/>
          </a:prstGeom>
          <a:noFill/>
          <a:ln w="25400">
            <a:solidFill>
              <a:srgbClr val="00A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200" y="6080760"/>
            <a:ext cx="100584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5120640"/>
            <a:ext cx="169164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5074920"/>
            <a:ext cx="914400" cy="100584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05156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学習曲線（例）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143560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graphicFrame>
        <p:nvGraphicFramePr>
          <p:cNvPr id="17" name="Chart 0"/>
          <p:cNvGraphicFramePr/>
          <p:nvPr/>
        </p:nvGraphicFramePr>
        <p:xfrm>
          <a:off x="6629400" y="1554480"/>
          <a:ext cx="53492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6629400" y="37033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※模式（説明用）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397764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主要指標（例）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46520" y="436168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46520" y="4480560"/>
            <a:ext cx="1914144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9672" y="453542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360664" y="4480560"/>
            <a:ext cx="1914144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3816" y="453542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274808" y="4480560"/>
            <a:ext cx="1914144" cy="50292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47960" y="453542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46520" y="4983480"/>
            <a:ext cx="191414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19672" y="503834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CD@高さ別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360664" y="4983480"/>
            <a:ext cx="191414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33816" y="503834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寸法一致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274808" y="4983480"/>
            <a:ext cx="191414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347960" y="503834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SEM/GT輪郭から算出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46520" y="5486400"/>
            <a:ext cx="1914144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19672" y="554126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角度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8360664" y="5486400"/>
            <a:ext cx="1914144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33816" y="554126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sidewall angle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10274808" y="5486400"/>
            <a:ext cx="1914144" cy="50292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347960" y="554126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傾きの一致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446520" y="5989320"/>
            <a:ext cx="191414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19672" y="604418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ボトム曲率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360664" y="5989320"/>
            <a:ext cx="191414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33816" y="604418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丸み/フッティング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0274808" y="5989320"/>
            <a:ext cx="191414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347960" y="6044184"/>
            <a:ext cx="1767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工程差が出やすい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推論の安全策：学習範囲外（OOD）検知と不確実性の扱い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なぜ必要？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条件空間が広い（装置ノブ多数）→ 学習範囲外で暴走しうる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SEM同定や探索で外挿が頻発 → “この推論は危険” を返す必要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推論フロー（OODを挟む）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3308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343400"/>
            <a:ext cx="1828800" cy="64008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入力(φ0,c,t,z)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4343400"/>
            <a:ext cx="1554480" cy="64008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OOD/UQ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343400"/>
            <a:ext cx="1097280" cy="64008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OK→推論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4663440"/>
            <a:ext cx="3200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09160" y="4663440"/>
            <a:ext cx="3200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97280" y="50749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NGの場合：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・追加HFを回す（能動学習）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・探索範囲を制限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・同定の事前を強くする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05156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実装候補（軽→重）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143560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54480"/>
            <a:ext cx="1435608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0934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2128" y="1554480"/>
            <a:ext cx="1435608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60934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17736" y="1554480"/>
            <a:ext cx="1435608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60934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753344" y="1554480"/>
            <a:ext cx="1435608" cy="548640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26496" y="160934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210312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215798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距離ベース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82128" y="210312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15798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cの範囲/密度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17736" y="210312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0888" y="215798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実装が軽い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53344" y="210312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26496" y="215798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φ0の多様性を見落とす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2651760"/>
            <a:ext cx="1435608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270662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アンサンブル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82128" y="2651760"/>
            <a:ext cx="1435608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70662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複数モデルで分散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17736" y="2651760"/>
            <a:ext cx="1435608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0888" y="270662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簡易UQ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753344" y="2651760"/>
            <a:ext cx="1435608" cy="5486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26496" y="270662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計算が増える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320040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325526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SBI事後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320040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325526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p(z|y)の幅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17736" y="320040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90888" y="325526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同定不確かさ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753344" y="3200400"/>
            <a:ext cx="14356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26496" y="3255264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設計が重い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用途別ワークフロー：Forward / 同定 / 探索（何が違うか）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3つの用途と処理フロー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35204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A) Forward予測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35204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645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B) SEM同定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1600200"/>
            <a:ext cx="35204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64592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C) レシピ探索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1463040" cy="59436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(φ0,c,t,z)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057400"/>
            <a:ext cx="640080" cy="59436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057400"/>
            <a:ext cx="731520" cy="59436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359152"/>
            <a:ext cx="32004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2359152"/>
            <a:ext cx="18288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5156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出力：SDF/断面/指標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914400" cy="548640"/>
          </a:xfrm>
          <a:prstGeom prst="rect">
            <a:avLst/>
          </a:prstGeom>
          <a:solidFill>
            <a:srgbClr val="FDE2F3"/>
          </a:solidFill>
          <a:ln w="12700">
            <a:solidFill>
              <a:srgbClr val="D98BC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 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1874520"/>
            <a:ext cx="914400" cy="54864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ŷ(z)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1874520"/>
            <a:ext cx="91440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最適化/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148840"/>
            <a:ext cx="1371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2148840"/>
            <a:ext cx="1371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754880" y="2542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出力：z（+不確かさ）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06440" y="2971800"/>
            <a:ext cx="1097280" cy="5029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z固定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Forwardへ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1874520"/>
            <a:ext cx="914400" cy="54864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探索変数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0" y="1874520"/>
            <a:ext cx="914400" cy="54864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61320" y="187452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72600" y="2148840"/>
            <a:ext cx="1371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24160" y="2148840"/>
            <a:ext cx="13716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458200" y="2542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BO/MFBOで反復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3429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zは同定で固定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（実測吸収）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用途別：形状表現・学習手法・関連技術（本案の推奨構成）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まとめテーブル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形状表現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学習手法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2551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関連技術（周辺）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4692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主な出力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Forward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Time-cond NO（FNO/UNO）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5236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Eikonal/境界/時間埋め込み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4692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007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φ(t), 断面, 指標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6324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SDF→特徴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 / SBI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SEM特徴抽出, 事前分布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4692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2007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z（+不確かさ）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868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6324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SDF→目的関数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5780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095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BO/MFBO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5236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551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OOD/UQ, 制約最適化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4692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2007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最適c, 予測形状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8680" y="3867912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" y="3922776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データ効率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063240" y="3867912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36392" y="3922776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LF/HF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257800" y="3867912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0952" y="3922776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多忠実度学習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52360" y="3867912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25512" y="3922776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PEFT/Adapters, Active learning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46920" y="3867912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20072" y="3922776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HF実行数削減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68680" y="5257800"/>
            <a:ext cx="10972800" cy="12344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1560" y="5330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成熟度（導入順）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097280" y="5715000"/>
            <a:ext cx="2194560" cy="54864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P0: φ(t) 推論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(最小NO)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474720" y="5715000"/>
            <a:ext cx="2194560" cy="54864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P1: LF→HF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多忠実度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852160" y="5715000"/>
            <a:ext cx="2377440" cy="54864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P2: 同定+探索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(SBI/MFBO)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291840" y="5989320"/>
            <a:ext cx="18288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669280" y="5989320"/>
            <a:ext cx="18288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実装コードの読み方（第三者向け）：モジュール構成と実行フロー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想定ディレクトリ（例）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5212080" cy="4892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
  data/
    io.py  (LF/HF/SEM入出力)
    sdf.py (voxel→SDF, grad, band)
  models/
    fno.py / uno.py
    conditioning.py (t,z,c)
  train/
    pretrain_lf.py
    finetune_hf.py
    losses.py (eikonal等)
  infer/
    query_time.py (任意t出力)
    calibrate.py (MAP/SBI)
  viz/
    export_vti.py
    slice_compare.py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46520" y="105156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実行フロー（preflight→train→eval→viz）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43560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91640"/>
            <a:ext cx="1554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preflight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(環境/依存)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66760" y="1691640"/>
            <a:ext cx="1554480" cy="64008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LF事前学習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95560" y="1691640"/>
            <a:ext cx="1554480" cy="640080"/>
          </a:xfrm>
          <a:prstGeom prst="rect">
            <a:avLst/>
          </a:prstGeom>
          <a:solidFill>
            <a:srgbClr val="FFE6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HF微調整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1554480" cy="64008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95560" y="2788920"/>
            <a:ext cx="1554480" cy="64008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viz出力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201168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21240" y="201168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331720"/>
            <a:ext cx="0" cy="45720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972800" y="2331720"/>
            <a:ext cx="0" cy="45720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37960" y="3840480"/>
            <a:ext cx="5394960" cy="292608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9136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成果物（runs/ 配下）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4233672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checkpoints/：事前学習・微調整の重み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metrics.json：loss/指標ログ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viz/：VTI・断面比較PNG・学習曲線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calibration/：z推定結果（MAP/SBI）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想定課題（リスク）と対策：この案で破綻しやすい点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リスク一覧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74320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1600200"/>
            <a:ext cx="274320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165506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症状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274320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5506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根本原因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600200"/>
            <a:ext cx="274320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71432" y="1655064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対策（実装）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216712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221992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SDF破綻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216712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2221992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ノイズ/薄膜崩れ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216712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221992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幾何制約が弱い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98280" y="216712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432" y="2221992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Eikonal/境界/再距離化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2734056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788920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LF/HFギャップ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11880" y="2734056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788920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HFで精度不足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2734056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2788920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LFが粗すぎる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98280" y="2734056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1432" y="2788920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LF設計見直し/残差学習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" y="330098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335584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3Dが重い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11880" y="330098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85032" y="335584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学習が遅い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55080" y="330098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5584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FFT/メモリ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98280" y="330098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71432" y="3355848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段階解像度/UNO/パッチ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8680" y="3867912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1832" y="392277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同定が多解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11880" y="3867912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85032" y="392277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zが定まらない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3867912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392277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観測が少ない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98280" y="3867912"/>
            <a:ext cx="274320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71432" y="3922776"/>
            <a:ext cx="259689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SBI+事前/追加特徴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8680" y="5303520"/>
            <a:ext cx="10972800" cy="123444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5394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優先度：まず「SDF破綻」を潰す → 次に「LF/HFギャップ」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いつ3位案を選ぶべきか：1位/2位との使い分け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比較（要点）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3639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主表現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時間の扱い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2551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強い場面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46920" y="1600200"/>
            <a:ext cx="2194560" cy="56692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165506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6324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 narrow band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Vn→LS更新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5236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連続性/位相変化が堅い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46920" y="21671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0072" y="222199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内部影響は蒸留が鍵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6324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639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表面Graph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5780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Vn→SDF更新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非局所（反射/遮蔽）を明示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46920" y="2734056"/>
            <a:ext cx="2194560" cy="56692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20072" y="278892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エッジ設計が難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868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6324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SDF場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5780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3095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t条件で直接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5236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2551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長時間・多形状の基盤化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46920" y="3300984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20072" y="33558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SDF制約/多忠実度が鍵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8680" y="4526280"/>
            <a:ext cx="10972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選択ガイド（簡易）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97280" y="4983480"/>
            <a:ext cx="2194560" cy="59436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長時間/最終形状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多数クエリ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566160" y="4983480"/>
            <a:ext cx="2377440" cy="594360"/>
          </a:xfrm>
          <a:prstGeom prst="rect">
            <a:avLst/>
          </a:prstGeom>
          <a:solidFill>
            <a:srgbClr val="FDE2F3"/>
          </a:solidFill>
          <a:ln w="12700">
            <a:solidFill>
              <a:srgbClr val="D98BC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非局所が支配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(反射/再入射)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17920" y="4983480"/>
            <a:ext cx="2011680" cy="59436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まず堅く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連続性重視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463040" y="5715000"/>
            <a:ext cx="1097280" cy="502920"/>
          </a:xfrm>
          <a:prstGeom prst="rect">
            <a:avLst/>
          </a:prstGeom>
          <a:solidFill>
            <a:srgbClr val="E8E8FF"/>
          </a:solidFill>
          <a:ln w="12700">
            <a:solidFill>
              <a:srgbClr val="8888C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3位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297680" y="5715000"/>
            <a:ext cx="1097280" cy="502920"/>
          </a:xfrm>
          <a:prstGeom prst="rect">
            <a:avLst/>
          </a:prstGeom>
          <a:solidFill>
            <a:srgbClr val="FDE2F3"/>
          </a:solidFill>
          <a:ln w="12700">
            <a:solidFill>
              <a:srgbClr val="D98BC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2位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58000" y="5715000"/>
            <a:ext cx="1097280" cy="50292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1位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結論：3位案で得られる価値／次に決めるべきこと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この案の価値（目的への寄与）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任意時刻へ直接クエリ → 長時間でもロールアウト破綻を抑えやすい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多忠実度（LF→HF）でHF run数を抑え、横展開（多形状/多工程）を狙える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SEM同定（z推定）を組み込み、少数実測でも合わせ込みの道筋を作る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66928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次の意思決定（実装がブレる点）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361688"/>
            <a:ext cx="5669280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407408"/>
            <a:ext cx="274320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44622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決めること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4407408"/>
            <a:ext cx="274320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44622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選択肢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493776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LFの作り方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488289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493776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粗格子 / 簡略物理 / 2D断面 / 短時間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358384"/>
            <a:ext cx="2743200" cy="47548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541324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NOアーキ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5358384"/>
            <a:ext cx="2743200" cy="47548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5413248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FNO→必要ならUNO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83387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58887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t注入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20440" y="583387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5888736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FiLM（推奨）/ broadcast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6309360"/>
            <a:ext cx="2743200" cy="47548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636422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20440" y="6309360"/>
            <a:ext cx="2743200" cy="475488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6364224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MAP→SBIへ拡張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1051560"/>
            <a:ext cx="5742432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9DD7F5"/>
            </a:solidFill>
          </a:ln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ロードマップ（P0→P2）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46520" y="1435608"/>
            <a:ext cx="5742432" cy="0"/>
          </a:xfrm>
          <a:prstGeom prst="line">
            <a:avLst/>
          </a:prstGeom>
          <a:noFill/>
          <a:ln w="12700">
            <a:solidFill>
              <a:srgbClr val="D7E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828800"/>
            <a:ext cx="1645920" cy="731520"/>
          </a:xfrm>
          <a:prstGeom prst="rect">
            <a:avLst/>
          </a:prstGeom>
          <a:solidFill>
            <a:srgbClr val="BFE8FF"/>
          </a:solidFill>
          <a:ln w="12700">
            <a:solidFill>
              <a:srgbClr val="9DD7F5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最小NOで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φ(t)出力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9640" y="1828800"/>
            <a:ext cx="1645920" cy="731520"/>
          </a:xfrm>
          <a:prstGeom prst="rect">
            <a:avLst/>
          </a:prstGeom>
          <a:solidFill>
            <a:srgbClr val="D7F2E3"/>
          </a:solidFill>
          <a:ln w="12700">
            <a:solidFill>
              <a:srgbClr val="66B38C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LF→HF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多忠実度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69880" y="1828800"/>
            <a:ext cx="164592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C9A66B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SEM同定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+探索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75320" y="219456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95560" y="2194560"/>
            <a:ext cx="274320" cy="0"/>
          </a:xfrm>
          <a:prstGeom prst="line">
            <a:avLst/>
          </a:prstGeom>
          <a:noFill/>
          <a:ln w="25400">
            <a:solidFill>
              <a:srgbClr val="6B7C8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29400" y="2834640"/>
            <a:ext cx="5394960" cy="3566160"/>
          </a:xfrm>
          <a:prstGeom prst="rect">
            <a:avLst/>
          </a:prstGeom>
          <a:solidFill>
            <a:srgbClr val="F8FBFE"/>
          </a:solidFill>
          <a:ln w="12700">
            <a:solidFill>
              <a:srgbClr val="D7E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成果物（常に残す）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12280" y="32461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時系列SDF（VTI等）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断面比較画像（pred/gt/SEM）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学習曲線と指標ログ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同定結果（z）と不確かさ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2672</Words>
  <Application>Microsoft Macintosh PowerPoint</Application>
  <PresentationFormat>ワイド画面</PresentationFormat>
  <Paragraphs>547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kawahito</cp:lastModifiedBy>
  <cp:revision>2</cp:revision>
  <dcterms:created xsi:type="dcterms:W3CDTF">2026-02-15T13:32:33Z</dcterms:created>
  <dcterms:modified xsi:type="dcterms:W3CDTF">2026-02-17T00:07:07Z</dcterms:modified>
</cp:coreProperties>
</file>